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pelan. Jangan mulai dari istilah.</a:t>
            </a:r>
          </a:p>
          <a:p/>
          <a:p>
            <a:r>
              <a:t>Katakan: hari ini kita tidak mengganti model. Seseorang bilang mau ke Jepang. TripSpec menyusun rencana dari panduan lokal, menawarkan tiga penerbangan tanpa harga, lalu mengingatkan di aplikasi kalau penerbangannya dikunci.</a:t>
            </a:r>
          </a:p>
          <a:p/>
          <a:p>
            <a:r>
              <a:t>Yang harus mereka bawa pulang: kalau jawabannya salah, kita ubah aturannya dan jalankan percakapan yang sama lagi. File modelnya tetap qwen3.5.</a:t>
            </a:r>
          </a:p>
          <a:p/>
          <a:p>
            <a:r>
              <a:t>Jangan tarik model lain. Pack yang dinilai hari ini tripspec-nl@2026-09-19.4, ditulis dari contracts/vibe.md. Pack itu bukan spec, dan tidak masuk git.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Ucapkan sekali, lalu diam sebentar.</a:t>
            </a:r>
          </a:p>
          <a:p/>
          <a:p>
            <a:r>
              <a:t>Modelnya tidak kita latih ulang. Kita tulis aturannya, nilai enam percakapan, simpan hasilnya. Chat mengikuti hasil itu. Kalau jawabannya salah, kita ubah aturannya dan nilai lagi. Modelnya tetap.</a:t>
            </a:r>
          </a:p>
          <a:p/>
          <a:p>
            <a:r>
              <a:t>Lalu buka terminal dan jalankan npm run help. Hijau artinya langkah itu sudah ada di laptop ini. Kuning artinya belum. Kotak di bawah hanya satu perintah. Ikuti itu. Jangan loncat.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tabel ini. File-file ini ditulis di mesin demo. Bukan sumber kebenaran di git.</a:t>
            </a:r>
          </a:p>
          <a:p/>
          <a:p>
            <a:r>
              <a:t>vendor/aor adalah control plane Agent On Rails yang di-strap. Langkah berikutnya membacanya. Chatbot tidak.</a:t>
            </a:r>
          </a:p>
          <a:p/>
          <a:p>
            <a:r>
              <a:t>specs/requirements dan specs/product dihasilkan npm run specs, dan lagi di awal npm run demo. Ruangan membukanya. Chatbot tidak membaca file itu.</a:t>
            </a:r>
          </a:p>
          <a:p/>
          <a:p>
            <a:r>
              <a:t>specs/tools adalah satu markdown per alat di katalog. Chip di bawah balasan chat membuka file itu di editor. Model tidak membaca markdown. Model melihat deskripsi katalog.</a:t>
            </a:r>
          </a:p>
          <a:p/>
          <a:p>
            <a:r>
              <a:t>specs/training/results/latest.md adalah yang ditiru chatbot. Setiap giliran chat menempelkan laporan ini ke prompt sistem yang dikirim ke Ollama.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perintah, berurutan. npm run help mencetak status di samping masing-masing.</a:t>
            </a:r>
          </a:p>
          <a:p/>
          <a:p>
            <a:r>
              <a:t>1 pull. 2 strap. 3 contracts, dari vibe yang siap tempel. 4 specs. 5 train, yang menilai S1 sampai S6. 6 demo, yang menghasilkan ulang spec lalu membuka chat.</a:t>
            </a:r>
          </a:p>
          <a:p/>
          <a:p>
            <a:r>
              <a:t>npm run train tidak memuat laporan sebelumnya. Skornya tetap mandiri. Hanya chatbot yang memuat laporan itu.</a:t>
            </a:r>
          </a:p>
          <a:p/>
          <a:p>
            <a:r>
              <a:t>npm run demo tidak menjalankan enam skenario. Kalau hanya demo, dan latest.md hilang atau basi, chat akan mengatakannya.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 diagram ini selagi npm run help masih di layar.</a:t>
            </a:r>
          </a:p>
          <a:p/>
          <a:p>
            <a:r>
              <a:t>Arahnya satu. Pull memasang model. Strap menyalin control plane ke vendor/aor, dan folder itu tidak di-commit. Contracts membaca contracts/vibe.md lalu menulis pack. Specs menulis folder yang dibuka ruangan; chatbot tidak membaca markdown itu. Train menilai S1 sampai S6 dan menyimpan latest.md. Demo menyalakan chat di port 3000 dari laporan itu.</a:t>
            </a:r>
          </a:p>
          <a:p/>
          <a:p>
            <a:r>
              <a:t>Jangan loncat. Kotak kuning di help adalah satu-satunya perintah berikutnya.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bacakan daftar. Tunjuk satu baris, lalu katakan artinya.</a:t>
            </a:r>
          </a:p>
          <a:p/>
          <a:p>
            <a:r>
              <a:t>Pull: modelnya sudah hidup di Ollama. Kalau aplikasinya mati, langkah ini belum selesai walaupun filenya ada dari minggu lalu.</a:t>
            </a:r>
          </a:p>
          <a:p/>
          <a:p>
            <a:r>
              <a:t>Strap: alat bantu sudah disalin ke laptop ini. Tidak masuk git.</a:t>
            </a:r>
          </a:p>
          <a:p/>
          <a:p>
            <a:r>
              <a:t>Contracts: cerita di vibe.md sudah jadi aturan. Chat tidak membaca ceritanya. Ia membaca aturannya.</a:t>
            </a:r>
          </a:p>
          <a:p/>
          <a:p>
            <a:r>
              <a:t>Specs: buka foldernya. Kalau isinya kosong, belum selesai. File sisa dari sesi lama tidak dihitung.</a:t>
            </a:r>
          </a:p>
          <a:p/>
          <a:p>
            <a:r>
              <a:t>Train: laporan terbaru harus menyebut versi yang sama dengan aturan di disk, 2026-09-19.4. Laporan lama yang masih menyebut harga bukan demo ini.</a:t>
            </a:r>
          </a:p>
          <a:p/>
          <a:p>
            <a:r>
              <a:t>Demo: buka localhost:3000. Kalau laporannya belum ada, chat menolak. Itu sengaja.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Ceritakan seperti satu orang yang sedang merencanakan liburan. Jangan sebut nomor skenario dulu.</a:t>
            </a:r>
          </a:p>
          <a:p/>
          <a:p>
            <a:r>
              <a:t>Mereka bilang mau ke Jepang. Kita jawab dengan panduan Tokyo dan satu pertanyaan: dari mana, kapan, atau berapa orang. Jangan tanya anggaran.</a:t>
            </a:r>
          </a:p>
          <a:p/>
          <a:p>
            <a:r>
              <a:t>Mereka bilang dari Jakarta, besok, berdua dengan istri. Besok artinya besok, jangan minta tanggal lagi. Jangan ulang panduan. Beri tiga penerbangan, tanpa harga.</a:t>
            </a:r>
          </a:p>
          <a:p/>
          <a:p>
            <a:r>
              <a:t>Mereka pilih nomor 2 dan minta hotel. Nama dan daerah saja.</a:t>
            </a:r>
          </a:p>
          <a:p/>
          <a:p>
            <a:r>
              <a:t>Mereka tanya Garuda jam 3 pagi, 900 ribu. Tiket itu tidak ada. Kita tolak, dan tetap tidak sebut harga.</a:t>
            </a:r>
          </a:p>
          <a:p/>
          <a:p>
            <a:r>
              <a:t>Mereka kunci pilihan dan minta diingatkan. Tiga pengingat di dalam aplikasi: 14 hari, 7 hari, 1 hari. Bukan email, bukan WhatsApp.</a:t>
            </a:r>
          </a:p>
          <a:p/>
          <a:p>
            <a:r>
              <a:t>Kartu bawah adalah bentuk lain, di halaman baru: satu kalimat sudah lengkap, Jakarta ke Bali, 12 sampai 15 Oktober, dua orang.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Gambar jalur data, bukan perintah.</a:t>
            </a:r>
          </a:p>
          <a:p/>
          <a:p>
            <a:r>
              <a:t>Baris atas: contracts/vibe.md ada di git. npm run contracts mengubahnya menjadi pack. Pack bukan spec dan tidak di-commit. npm run train menilai S1 sampai S6 tanpa memuat laporan lama, lalu menulis latest.md. Chatbot meniru laporan itu.</a:t>
            </a:r>
          </a:p>
          <a:p/>
          <a:p>
            <a:r>
              <a:t>Baris bawah: product/requirements.md dibaca npm run specs. Hasilnya folder specs/ yang dibuka ruangan. Chatbot tidak membaca markdown itu.</a:t>
            </a:r>
          </a:p>
          <a:p/>
          <a:p>
            <a:r>
              <a:t>Gelembung chat hanya melihat pack dan latest.md, dikirim ke Ollama. Chip di bawah balasan membuka spec alat di editor. Mengedit markdown itu tidak mengubah balasan berikutnya. Ubah katalog, hasilkan ulang, lalu train lagi.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di disk: Bali, Tokyo (dipakai saat traveler bilang Jepang), Singapore. Penerbangan di disk: Jakarta CGK ke DPS, SIN, dan NRT.</a:t>
            </a:r>
          </a:p>
          <a:p/>
          <a:p>
            <a:r>
              <a:t>Harga ada di src/inventory/mock-data.ts supaya file tetap stabil. Harga dibuang sebelum model melihat JSON alat. Kalau penerbangan tidak ada di daftar itu, asisten bilang tidak ada di data dan tetap tidak mengutip tarif.</a:t>
            </a:r>
          </a:p>
          <a:p/>
          <a:p>
            <a:r>
              <a:t>Baris CGK–DPS yang nyata adalah QZ-751, GA-404, dan JT-39. Demo ini tidak mencetak tarifnya. Yang diada-adakan adalah GA 712 jam 03:00, QZ 852, dan hotel yang tidak ada di daftar kota.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dengan Mau ke Jepang.</a:t>
            </a:r>
          </a:p>
          <a:p/>
          <a:p>
            <a:r>
              <a:t>Yang mereka mau kembali adalah kota yang diasumsikan panduan, hari-harinya, dan apa yang tidak akan diada-adakan. Mereka tidak mau harga paket.</a:t>
            </a:r>
          </a:p>
          <a:p/>
          <a:p>
            <a:r>
              <a:t>Model yang membantu dengan prompt brosur menjawab kalimat yang sama dengan nomor penerbangan dan tarif. Itulah kegagalan yang dituju sisa sesi ini. Tidak perlu file tangkapan.</a:t>
            </a:r>
          </a:p>
          <a:p/>
          <a:p>
            <a:r>
              <a:t>Kalau ada yang bertanya ini Maya, jawabannya: bentuk training sama dengan Maya SPEC-017 (spec, pack, skenario emas, eval), produknya beda. Maya memesan perjalanan korporat. TripSpec merencanakan itinerary liburan dan berhenti di daftar pengingat in-app.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Jalankan npm run help. Kalau langkah 4 masih not yet, jalankan npm run specs.</a:t>
            </a:r>
          </a:p>
          <a:p/>
          <a:p>
            <a:r>
              <a:t>Jelaskan apa yang perintah itu lakukan selagi berjalan. Perintah ini tidak memanggil model chat untuk menilai balasan. Ia membaca product/requirements.md, menjalankan orkestrasi chatbot-training Agent On Rails (pin tercatat di .aor/aor-pin.json), lalu menerbitkan draf ke specs/. Pohon itu di-gitignore. Satu-satunya file yang terlacak di specs/ adalah .gitkeep.</a:t>
            </a:r>
          </a:p>
          <a:p/>
          <a:p>
            <a:r>
              <a:t>Setelah selesai, buka foldernya. Jangan klaim sukses hanya dari pin.</a:t>
            </a:r>
          </a:p>
          <a:p/>
          <a:p>
            <a:r>
              <a:t>specs/product: siapa produknya. Dihasilkan di run ini, tidak di-commit.</a:t>
            </a:r>
          </a:p>
          <a:p>
            <a:r>
              <a:t>specs/requirements: spec persyaratan, SD-…. Inilah spec yang tersimpan.</a:t>
            </a:r>
          </a:p>
          <a:p>
            <a:r>
              <a:t>specs/training: bentuk skenario dan daftar periksa eval. Bukan skornya. Skornya perintah berikutnya.</a:t>
            </a:r>
          </a:p>
          <a:p>
            <a:r>
              <a:t>contracts/vibe.md: vibe siap tempel. Ada di git. npm run contracts membaca ini.</a:t>
            </a:r>
          </a:p>
          <a:p>
            <a:r>
              <a:t>contracts/packs/tripspec-nl.baseline.json: apa yang diberitahu ke Ollama, dan apa yang dinilai npm run train. Ditulis AOR. Tidak di git. Versi 2026-09-19.4.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Bacakan tiga aturan keras, dari modules.reply_rules.hard_rules:</a:t>
            </a:r>
          </a:p>
          <a:p/>
          <a:p>
            <a:r>
              <a:t>Jangan pernah menampilkan harga. Bahkan kalau traveler yang menuliskannya.</a:t>
            </a:r>
          </a:p>
          <a:p>
            <a:r>
              <a:t>Itinerary datang dari panduan: ringkasan, area, musim, visa, lalu hari-harinya. Hanya di giliran mereka menyebut tempat.</a:t>
            </a:r>
          </a:p>
          <a:p>
            <a:r>
              <a:t>Tiga penerbangan, masing-masing maskapai plus nomor plus jam. Nama penginapan hanya setelah dipilih. Tanpa tarif.</a:t>
            </a:r>
          </a:p>
          <a:p/>
          <a:p>
            <a:r>
              <a:t>Alat ada di katalog pack. Menghasilkan ulang spec menulis satu markdown per alat ke specs/tools/. Chip di bawah balasan chat membuka file itu. Model tidak membaca markdown.</a:t>
            </a:r>
          </a:p>
          <a:p/>
          <a:p>
            <a:r>
              <a:t>get_destination_guide: kalimat terakhir menyebut negara atau kota. Bukan di giliran berikutnya yang hanya mengisi asal, tanggal, atau jumlah orang.</a:t>
            </a:r>
          </a:p>
          <a:p/>
          <a:p>
            <a:r>
              <a:t>search_flights: asal, tujuan, dan tanggal sudah diketahui. besok, lusa, dan hari ini dihitung. Maskapai, nomor, jam, dan tanggal itu. Tanpa tarif.</a:t>
            </a:r>
          </a:p>
          <a:p/>
          <a:p>
            <a:r>
              <a:t>search_hotels: setelah memilih, atau ada kata hotel. Nama dan area. Tanpa tarif malam.</a:t>
            </a:r>
          </a:p>
          <a:p/>
          <a:p>
            <a:r>
              <a:t>plan_notifications: kunci atau ingatkan. Judul dan jarak waktu in-app. Jangan tanya slot lagi.</a:t>
            </a:r>
          </a:p>
          <a:p/>
          <a:p>
            <a:r>
              <a:t>compose.ts membangun prompt sistem dari pack, plus — hanya di chatbot — laporan train. Ia tidak membaca specs/requirements. Mengedit specs/tools tidak mengubah balasan berikutnya. Ubah katalog, hasilkan ulang, lalu jalankan train lagi.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Jalankan npm run train. Bobot tetap. Skrip membungkus tiap skenario. Kuning menunggu. Hijau PASS. Merah FAIL.</a:t>
            </a:r>
          </a:p>
          <a:p/>
          <a:p>
            <a:r>
              <a:t>Di balik layar, untuk masing-masing S1 sampai S6:</a:t>
            </a:r>
          </a:p>
          <a:p/>
          <a:p>
            <a:r>
              <a:t>1. Alat paksa membaca inventaris secara lokal. Tanpa HTTP.</a:t>
            </a:r>
          </a:p>
          <a:p>
            <a:r>
              <a:t>2. compose.ts membangun prompt sistem dari pack dan JSON itu. latest.md sebelumnya tidak ikut.</a:t>
            </a:r>
          </a:p>
          <a:p>
            <a:r>
              <a:t>3. POST http://127.0.0.1:11434/v1/chat/completions, model qwen3.5:latest, temperatur 0.3, stream mati. Keheningan adalah putaran token, bukan macet, dan bukan training.</a:t>
            </a:r>
          </a:p>
          <a:p>
            <a:r>
              <a:t>4. Juri di src/eval/judges.ts menilai teks. Tidak ada model kedua.</a:t>
            </a:r>
          </a:p>
          <a:p>
            <a:r>
              <a:t>5. Harga di balasan (Rp, juta, rb) menggagalkan grounding. Templat yang mengganti balasan tidak berdasar juga tanpa harga.</a:t>
            </a:r>
          </a:p>
          <a:p/>
          <a:p>
            <a:r>
              <a:t>Setelah S6 teks yang sama ditulis dua kali: file ber-cap waktu, dan specs/training/results/latest.md. Keduanya di-gitignore.</a:t>
            </a:r>
          </a:p>
          <a:p/>
          <a:p>
            <a:r>
              <a:t>npm run help membandingkan versi pack di dalam latest.md dengan pack di disk. Kalau beda, train tetap not yet. Pack demo ini 2026-09-19.4. Laporan @2026-09-19.1 adalah perencana lama yang masih menyebut harga.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Katakan pelan.</a:t>
            </a:r>
          </a:p>
          <a:p/>
          <a:p>
            <a:r>
              <a:t>Dua hal wajib hijau. Pertama, chat menolak tiket yang tidak ada. Kedua, giliran berikutnya tidak mengulang panduan Jepang.</a:t>
            </a:r>
          </a:p>
          <a:p/>
          <a:p>
            <a:r>
              <a:t>Dari enam percakapan, boleh satu yang merah. Jangan bilang “sudah beres” sebelum membuka yang merah itu.</a:t>
            </a:r>
          </a:p>
          <a:p/>
          <a:p>
            <a:r>
              <a:t>Kalau bentuk jawabannya beda dari yang di slide, laporannya adalah buktinya. Perbaikannya di aturan, lalu nilai lagi. Bukan di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 Mau ke Jepang. Alat: get_destination_guide saja.</a:t>
            </a:r>
          </a:p>
          <a:p/>
          <a:p>
            <a:r>
              <a:t>Tokyo, Shinjuku, Asakusa, Shibuya, catatan musim, catatan visa, Hari 1 dan Hari 2, dan satu pertanyaan: dari mana berangkat, kapan, atau berapa orang. Tanpa harga.</a:t>
            </a:r>
          </a:p>
          <a:p/>
          <a:p>
            <a:r>
              <a:t>Ini satu-satunya giliran alat panduan boleh jalan untuk Jepang. Kalimat berikutnya mengisi slot. Panduan tidak boleh diambil lagi.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S6. Ketik: berangkat dari Jakarta, besok, saya dan istri aja.</a:t>
            </a:r>
          </a:p>
          <a:p/>
          <a:p>
            <a:r>
              <a:t>Tetap di halaman yang sama. Jangan muat ulang. Gelembung kedua tidak boleh menyalin yang pertama.</a:t>
            </a:r>
          </a:p>
          <a:p/>
          <a:p>
            <a:r>
              <a:t>Alat: search_flights saja. Alat panduan tidak jalan. besok adalah hari kalender berikutnya.</a:t>
            </a:r>
          </a:p>
          <a:p/>
          <a:p>
            <a:r>
              <a:t>Balasan menyebut Jakarta, besok, dan 2 orang, dan tidak dibuka dengan Kalau kamu bilang Jepang. Lalu, jam saja:</a:t>
            </a:r>
          </a:p>
          <a:p/>
          <a:p>
            <a:r>
              <a:t>JL-720 Japan Airlines 22:30–07:40</a:t>
            </a:r>
          </a:p>
          <a:p>
            <a:r>
              <a:t>GA-880 Garuda Indonesia 23:55–09:10</a:t>
            </a:r>
          </a:p>
          <a:p>
            <a:r>
              <a:t>QZ-202 AirAsia 21:15–06:50</a:t>
            </a:r>
          </a:p>
          <a:p/>
          <a:p>
            <a:r>
              <a:t>Jangan minta tanggal spesifik. S6 wajib.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Yang nomor 2, sekalian hotel. Alat: search_hotels.</a:t>
            </a:r>
          </a:p>
          <a:p/>
          <a:p>
            <a:r>
              <a:t>Di utas Jepang ini namanya Shinjuku Base Hotel (Shinjuku), Asakusa Lane Inn (Asakusa), Shibuya Cross Hotel (Shibuya). Tanpa tarif malam.</a:t>
            </a:r>
          </a:p>
          <a:p/>
          <a:p>
            <a:r>
              <a:t>Kalimat S3 yang dinilai menambah di Bali dan mengharapkan Kuta Beach Inn, Ubud Rice Lodge, dan Sanur Coast Hotel. Aturan sama, kota lain. Katakan itu kalau dinilai, supaya ruangan tidak mengira nama Tokyo adalah kesalahan.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 Ada tiket Garuda jam 3 pagi harga 900rb?</a:t>
            </a:r>
          </a:p>
          <a:p/>
          <a:p>
            <a:r>
              <a:t>Penerbangan itu tidak ada di data. Balasan mengatakannya dan tidak mengutip tarif. S4 wajib. Daftar penerbangan lain, dengan sendirinya, bukan penolakan.</a:t>
            </a:r>
          </a:p>
          <a:p/>
          <a:p>
            <a:r>
              <a:t>Yang diada-adakan adalah GA 712 jam 03:00 dan tarif. Garuda pagi yang nyata di CGK–DPS adalah GA-404 jam 08:15, dan kalimat ini tidak menanyakannya.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S5. Kunci opsi 2 dan ingatkan aku sebelum berangkat. Alat: plan_notifications.</a:t>
            </a:r>
          </a:p>
          <a:p/>
          <a:p>
            <a:r>
              <a:t>Baris kunci tanpa harga. Jangan tanya asal, tanggal, atau jumlah orang lagi. Lalu:</a:t>
            </a:r>
          </a:p>
          <a:p/>
          <a:p>
            <a:r>
              <a:t>14 hari: Cek dokumen perjalanan</a:t>
            </a:r>
          </a:p>
          <a:p>
            <a:r>
              <a:t>7 hari: Kunci penerbangan dan hotel</a:t>
            </a:r>
          </a:p>
          <a:p>
            <a:r>
              <a:t>1 hari: Pengingat berangkat</a:t>
            </a:r>
          </a:p>
          <a:p/>
          <a:p>
            <a:r>
              <a:t>Balasan menyebut in-app. Tanpa email, tanpa WhatsApp, tanpa SMS, tanpa voucher.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 Dari Jakarta ke Bali tanggal 12–15 Oktober, 2 orang.</a:t>
            </a:r>
          </a:p>
          <a:p/>
          <a:p>
            <a:r>
              <a:t>Dinilai di gilirannya sendiri, bukan setelah S1. Buka halaman baru kalau ditunjukkan. Alat: panduan dan search_flights.</a:t>
            </a:r>
          </a:p>
          <a:p/>
          <a:p>
            <a:r>
              <a:t>Hari-hari Bali (pantai selatan, Ubud, Sanur), baris visa yang ada di panduan, lalu QZ-751, GA-404, dan JT-39 dengan jam saja. Tanpa Rp. Jangan tanya dari mana berangkat. Jakarta sudah ada di pesan.</a:t>
            </a:r>
          </a:p>
          <a:p/>
          <a:p>
            <a:r>
              <a:t>Ini bentuk satu kalimat. S1 plus S6 adalah bentuk dua giliran. Tunjukkan keduanya kalau sempat. Jangan dicampur di satu halaman, karena panduan Jepang masih ada di utas.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Pindah ke terminal lain. Jalankan npm run demo. Buka localhost:3000.</a:t>
            </a:r>
          </a:p>
          <a:p/>
          <a:p>
            <a:r>
              <a:t>Perintah ini tidak mengulang enam ujian. Ia hanya membuka chat.</a:t>
            </a:r>
          </a:p>
          <a:p/>
          <a:p>
            <a:r>
              <a:t>Yang dibawa ke model cuma dua hal: aturan saat ini, dan laporan train terakhir. Model disuruh meniru jawaban yang lulus untuk giliran ini, dan tidak menempel jawaban giliran sebelumnya.</a:t>
            </a:r>
          </a:p>
          <a:p/>
          <a:p>
            <a:r>
              <a:t>Kalau laporannya belum ada, chat menolak. Itu sengaja. Jangan isi jawaban sendiri.</a:t>
            </a:r>
          </a:p>
          <a:p/>
          <a:p>
            <a:r>
              <a:t>Lihat footer. Harus ada nama model, versi aturan, dan nama laporan. Kalau tertulis template, yang muncul bukan kalimat model.</a:t>
            </a:r>
          </a:p>
          <a:p/>
          <a:p>
            <a:r>
              <a:t>Nilai hijau di terminal tidak menjamin gelembung ini. Bacalah.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Latih hasilnya di halaman baru, berurutan. Jangan lewatkan S6. Itulah giliran yang dulu mencetak ulang panduan Jepang.</a:t>
            </a:r>
          </a:p>
          <a:p/>
          <a:p>
            <a:r>
              <a:t>S1 Mau ke Jepang. Tokyo dari panduan, Hari 1 dan Hari 2, satu pertanyaan, tanpa harga. Chip alat: get_destination_guide.</a:t>
            </a:r>
          </a:p>
          <a:p/>
          <a:p>
            <a:r>
              <a:t>S6 berangkat dari Jakarta, besok, saya dan istri aja. Jakarta, besok, 2 orang, lalu JL-720, GA-880, QZ-202. Paragraf pertama tidak diulang. Tidak ada pertanyaan tanggal baru. Chip alat: search_flights saja.</a:t>
            </a:r>
          </a:p>
          <a:p/>
          <a:p>
            <a:r>
              <a:t>S3 Yang nomor 2, sekalian hotel. Nama dan area untuk kota yang sudah ada di utas. Tanpa tarif.</a:t>
            </a:r>
          </a:p>
          <a:p/>
          <a:p>
            <a:r>
              <a:t>S4 Ada tiket Garuda jam 3 pagi harga 900rb? Penolakan, dan tetap tanpa harga.</a:t>
            </a:r>
          </a:p>
          <a:p/>
          <a:p>
            <a:r>
              <a:t>S5 Kunci opsi 2 dan ingatkan aku sebelum berangkat. Tiga judul in-app, tanpa harga, tanpa pertanyaan slot baru.</a:t>
            </a:r>
          </a:p>
          <a:p/>
          <a:p>
            <a:r>
              <a:t>S2 Dari Jakarta ke Bali tanggal 12–15 Oktober, 2 orang. Halaman baru. Hari-hari Bali, lalu QZ-751, GA-404, JT-39, jam saja.</a:t>
            </a:r>
          </a:p>
          <a:p/>
          <a:p>
            <a:r>
              <a:t>Bilah train hijau tidak menjamin gelembung ini. Bacalah.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sempat, lakukan langsung. Kalau tidak, jelaskan lalu berhenti.</a:t>
            </a:r>
          </a:p>
          <a:p/>
          <a:p>
            <a:r>
              <a:t>1. Ubah judul Hari 2 Bali di src/inventory/mock-data.ts, atau satu judul pengingat.</a:t>
            </a:r>
          </a:p>
          <a:p>
            <a:r>
              <a:t>2. Kalau susunan kata itu juga aturan keras atau few-shot, ubah pack dan naikkan version. Sumber pack adalah contracts/vibe.md, lalu npm run contracts.</a:t>
            </a:r>
          </a:p>
          <a:p>
            <a:r>
              <a:t>3. npm run train lagi. npm run help tetap di train sampai latest.md yang baru menyebut versi baru.</a:t>
            </a:r>
          </a:p>
          <a:p>
            <a:r>
              <a:t>4. Muat ulang chat. Path laporan di footer file yang sama. Teks di dalamnya yang bergeser. GGUF tidak.</a:t>
            </a:r>
          </a:p>
          <a:p/>
          <a:p>
            <a:r>
              <a:t>Tutup dengan apa yang demo ini tidak lakukan, di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apa yang demo ini tidak lakukan.</a:t>
            </a:r>
          </a:p>
          <a:p/>
          <a:p>
            <a:r>
              <a:t>Tidak ada tarif dan tidak ada angka budget, bahkan saat traveler mengetiknya.</a:t>
            </a:r>
          </a:p>
          <a:p>
            <a:r>
              <a:t>Tidak ada pemesanan, pembayaran, atau tiket.</a:t>
            </a:r>
          </a:p>
          <a:p>
            <a:r>
              <a:t>Tidak ada cuaca langsung dan tidak ada keputusan visa. Baris visa adalah catatan di panduan. Catatan Jepang mengatakan panduan tidak menerbitkan visa.</a:t>
            </a:r>
          </a:p>
          <a:p>
            <a:r>
              <a:t>Tidak ada email, WhatsApp, atau SMS. Salurannya in-app.</a:t>
            </a:r>
          </a:p>
          <a:p>
            <a:r>
              <a:t>Tidak ada file model baru. Ollama melayani qwen3.5:latest dengan pack dan laporan train yang tersimpan.</a:t>
            </a:r>
          </a:p>
          <a:p/>
          <a:p>
            <a:r>
              <a:t>Repo: https://github.com/iman-suherman/sdd-travel-planner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Tinggalkan slide ini.</a:t>
            </a:r>
          </a:p>
          <a:p/>
          <a:p>
            <a:r>
              <a:t>npm run help menampilkan status tiap langkah, dan satu perintah berikutnya.</a:t>
            </a:r>
          </a:p>
          <a:p>
            <a:r>
              <a:t>npm run pull memasang qwen3.5:latest.</a:t>
            </a:r>
          </a:p>
          <a:p>
            <a:r>
              <a:t>npm run strap menyalin Agent On Rails ke vendor/aor. Tidak di-commit.</a:t>
            </a:r>
          </a:p>
          <a:p>
            <a:r>
              <a:t>npm run contracts mengubah contracts/vibe.md menjadi pack dan skema capability.</a:t>
            </a:r>
          </a:p>
          <a:p>
            <a:r>
              <a:t>npm run specs menyimpan specs/requirements dan specs/product.</a:t>
            </a:r>
          </a:p>
          <a:p>
            <a:r>
              <a:t>npm run train menyimpan specs/training/results/latest.md.</a:t>
            </a:r>
          </a:p>
          <a:p>
            <a:r>
              <a:t>npm run demo adalah chat di port 3000, dilayani dari laporan itu.</a:t>
            </a:r>
          </a:p>
          <a:p/>
          <a:p>
            <a:r>
              <a:t>Untuk mengembalikan mesin ke strap, ikuti docs/cleanup.md. Vibe tetap. Model tetap.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34440"/>
            <a:ext cx="10972800" cy="365760"/>
          </a:xfrm>
          <a:prstGeom prst="rect">
            <a:avLst/>
          </a:prstGeom>
          <a:noFill/>
        </p:spPr>
        <p:txBody>
          <a:bodyPr wrap="square" lIns="0" rIns="0" tIns="0" bIns="0" anchor="t"/>
          <a:lstStyle/>
          <a:p>
            <a:pPr algn="l">
              <a:spcBef>
                <a:spcPts val="0"/>
              </a:spcBef>
              <a:spcAft>
                <a:spcPts val="0"/>
              </a:spcAft>
            </a:pPr>
            <a:r>
              <a:rPr sz="1400" b="1" i="0">
                <a:solidFill>
                  <a:srgbClr val="E4C07A"/>
                </a:solidFill>
                <a:latin typeface="Calibri"/>
              </a:rPr>
              <a:t>DEMO MENGAJAR SDD  ·  19 SEPTEMBER 2026</a:t>
            </a:r>
          </a:p>
        </p:txBody>
      </p:sp>
      <p:sp>
        <p:nvSpPr>
          <p:cNvPr id="4" name="TextBox 3"/>
          <p:cNvSpPr txBox="1"/>
          <p:nvPr/>
        </p:nvSpPr>
        <p:spPr>
          <a:xfrm>
            <a:off x="548640" y="1737360"/>
            <a:ext cx="10972800" cy="1188720"/>
          </a:xfrm>
          <a:prstGeom prst="rect">
            <a:avLst/>
          </a:prstGeom>
          <a:noFill/>
        </p:spPr>
        <p:txBody>
          <a:bodyPr wrap="square" lIns="0" rIns="0" tIns="0" bIns="0" anchor="t"/>
          <a:lstStyle/>
          <a:p>
            <a:pPr algn="l">
              <a:spcBef>
                <a:spcPts val="0"/>
              </a:spcBef>
              <a:spcAft>
                <a:spcPts val="0"/>
              </a:spcAft>
            </a:pPr>
            <a:r>
              <a:rPr sz="6000" b="1" i="0">
                <a:solidFill>
                  <a:srgbClr val="FFFFFF"/>
                </a:solidFill>
                <a:latin typeface="Calibri"/>
              </a:rPr>
              <a:t>TripSpec</a:t>
            </a:r>
          </a:p>
        </p:txBody>
      </p:sp>
      <p:sp>
        <p:nvSpPr>
          <p:cNvPr id="5" name="TextBox 4"/>
          <p:cNvSpPr txBox="1"/>
          <p:nvPr/>
        </p:nvSpPr>
        <p:spPr>
          <a:xfrm>
            <a:off x="548640" y="3017520"/>
            <a:ext cx="10058400" cy="1097280"/>
          </a:xfrm>
          <a:prstGeom prst="rect">
            <a:avLst/>
          </a:prstGeom>
          <a:noFill/>
        </p:spPr>
        <p:txBody>
          <a:bodyPr wrap="square" lIns="0" rIns="0" tIns="0" bIns="0" anchor="t"/>
          <a:lstStyle/>
          <a:p>
            <a:pPr algn="l">
              <a:spcBef>
                <a:spcPts val="0"/>
              </a:spcBef>
              <a:spcAft>
                <a:spcPts val="0"/>
              </a:spcAft>
            </a:pPr>
            <a:r>
              <a:rPr sz="2400" b="0" i="0">
                <a:solidFill>
                  <a:srgbClr val="E7EEEA"/>
                </a:solidFill>
                <a:latin typeface="Calibri"/>
              </a:rPr>
              <a:t>Seseorang mau liburan.</a:t>
            </a:r>
          </a:p>
          <a:p>
            <a:pPr algn="l">
              <a:spcBef>
                <a:spcPts val="0"/>
              </a:spcBef>
              <a:spcAft>
                <a:spcPts val="0"/>
              </a:spcAft>
            </a:pPr>
            <a:r>
              <a:rPr sz="2400" b="0" i="0">
                <a:solidFill>
                  <a:srgbClr val="E7EEEA"/>
                </a:solidFill>
                <a:latin typeface="Calibri"/>
              </a:rPr>
              <a:t>Kita susun rencananya dari panduan, bukan dari harga.</a:t>
            </a:r>
          </a:p>
          <a:p>
            <a:pPr algn="l">
              <a:spcBef>
                <a:spcPts val="0"/>
              </a:spcBef>
              <a:spcAft>
                <a:spcPts val="0"/>
              </a:spcAft>
            </a:pPr>
            <a:r>
              <a:rPr sz="2400" b="0" i="0">
                <a:solidFill>
                  <a:srgbClr val="E7EEEA"/>
                </a:solidFill>
                <a:latin typeface="Calibri"/>
              </a:rPr>
              <a:t>Modelnya tidak kita ganti.</a:t>
            </a:r>
          </a:p>
        </p:txBody>
      </p:sp>
      <p:sp>
        <p:nvSpPr>
          <p:cNvPr id="6" name="TextBox 5"/>
          <p:cNvSpPr txBox="1"/>
          <p:nvPr/>
        </p:nvSpPr>
        <p:spPr>
          <a:xfrm>
            <a:off x="548640" y="4846320"/>
            <a:ext cx="10058400" cy="731520"/>
          </a:xfrm>
          <a:prstGeom prst="rect">
            <a:avLst/>
          </a:prstGeom>
          <a:noFill/>
        </p:spPr>
        <p:txBody>
          <a:bodyPr wrap="square" lIns="0" rIns="0" tIns="0" bIns="0" anchor="t"/>
          <a:lstStyle/>
          <a:p>
            <a:pPr algn="l">
              <a:spcBef>
                <a:spcPts val="0"/>
              </a:spcBef>
              <a:spcAft>
                <a:spcPts val="0"/>
              </a:spcAft>
            </a:pPr>
            <a:r>
              <a:rPr sz="1600" b="0" i="0">
                <a:solidFill>
                  <a:srgbClr val="E4C07A"/>
                </a:solidFill>
                <a:latin typeface="Calibri"/>
              </a:rPr>
              <a:t>Lima puluh menit.  Model yang sama dari awal sampai akhir.</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C9D4CE"/>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C9D4CE"/>
                </a:solidFill>
                <a:latin typeface="Calibri"/>
              </a:rPr>
              <a:t>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E4C07A"/>
                </a:solidFill>
                <a:latin typeface="Calibri"/>
              </a:rPr>
              <a:t>KALIMAT PEMBUKA</a:t>
            </a:r>
          </a:p>
        </p:txBody>
      </p:sp>
      <p:sp>
        <p:nvSpPr>
          <p:cNvPr id="4" name="TextBox 3"/>
          <p:cNvSpPr txBox="1"/>
          <p:nvPr/>
        </p:nvSpPr>
        <p:spPr>
          <a:xfrm>
            <a:off x="548640" y="1188720"/>
            <a:ext cx="10972800" cy="384048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Calibri"/>
              </a:rPr>
              <a:t>Modelnya tidak kita latih ulang.</a:t>
            </a:r>
          </a:p>
          <a:p>
            <a:pPr algn="l">
              <a:spcBef>
                <a:spcPts val="0"/>
              </a:spcBef>
              <a:spcAft>
                <a:spcPts val="0"/>
              </a:spcAft>
            </a:pPr>
            <a:r>
              <a:rPr sz="2800" b="1" i="0">
                <a:solidFill>
                  <a:srgbClr val="FFFFFF"/>
                </a:solidFill>
                <a:latin typeface="Calibri"/>
              </a:rPr>
              <a:t/>
            </a:r>
          </a:p>
          <a:p>
            <a:pPr algn="l">
              <a:spcBef>
                <a:spcPts val="0"/>
              </a:spcBef>
              <a:spcAft>
                <a:spcPts val="0"/>
              </a:spcAft>
            </a:pPr>
            <a:r>
              <a:rPr sz="2800" b="1" i="0">
                <a:solidFill>
                  <a:srgbClr val="FFFFFF"/>
                </a:solidFill>
                <a:latin typeface="Calibri"/>
              </a:rPr>
              <a:t>Kita tulis aturannya, nilai enam percakapan,</a:t>
            </a:r>
          </a:p>
          <a:p>
            <a:pPr algn="l">
              <a:spcBef>
                <a:spcPts val="0"/>
              </a:spcBef>
              <a:spcAft>
                <a:spcPts val="0"/>
              </a:spcAft>
            </a:pPr>
            <a:r>
              <a:rPr sz="2800" b="1" i="0">
                <a:solidFill>
                  <a:srgbClr val="FFFFFF"/>
                </a:solidFill>
                <a:latin typeface="Calibri"/>
              </a:rPr>
              <a:t>simpan hasilnya.</a:t>
            </a:r>
          </a:p>
          <a:p>
            <a:pPr algn="l">
              <a:spcBef>
                <a:spcPts val="0"/>
              </a:spcBef>
              <a:spcAft>
                <a:spcPts val="0"/>
              </a:spcAft>
            </a:pPr>
            <a:r>
              <a:rPr sz="2800" b="1" i="0">
                <a:solidFill>
                  <a:srgbClr val="FFFFFF"/>
                </a:solidFill>
                <a:latin typeface="Calibri"/>
              </a:rPr>
              <a:t/>
            </a:r>
          </a:p>
          <a:p>
            <a:pPr algn="l">
              <a:spcBef>
                <a:spcPts val="0"/>
              </a:spcBef>
              <a:spcAft>
                <a:spcPts val="0"/>
              </a:spcAft>
            </a:pPr>
            <a:r>
              <a:rPr sz="2800" b="1" i="0">
                <a:solidFill>
                  <a:srgbClr val="FFFFFF"/>
                </a:solidFill>
                <a:latin typeface="Calibri"/>
              </a:rPr>
              <a:t>Chat mengikuti hasil itu.</a:t>
            </a:r>
          </a:p>
        </p:txBody>
      </p:sp>
      <p:sp>
        <p:nvSpPr>
          <p:cNvPr id="5" name="TextBox 4"/>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C9D4CE"/>
                </a:solidFill>
                <a:latin typeface="Calibri"/>
              </a:rPr>
              <a:t>TripSpec  ·  19 September 2026</a:t>
            </a:r>
          </a:p>
        </p:txBody>
      </p:sp>
      <p:sp>
        <p:nvSpPr>
          <p:cNvPr id="6" name="TextBox 5"/>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C9D4CE"/>
                </a:solidFill>
                <a:latin typeface="Calibr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YANG TERSIMPAN DI LAPTOP INI</a:t>
            </a:r>
          </a:p>
        </p:txBody>
      </p:sp>
      <p:sp>
        <p:nvSpPr>
          <p:cNvPr id="5" name="TextBox 4"/>
          <p:cNvSpPr txBox="1"/>
          <p:nvPr/>
        </p:nvSpPr>
        <p:spPr>
          <a:xfrm>
            <a:off x="502920" y="53035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Empat berkas. Hanya satu yang dibaca chat.</a:t>
            </a:r>
          </a:p>
        </p:txBody>
      </p:sp>
      <p:sp>
        <p:nvSpPr>
          <p:cNvPr id="6" name="Rectangle 5"/>
          <p:cNvSpPr/>
          <p:nvPr/>
        </p:nvSpPr>
        <p:spPr>
          <a:xfrm>
            <a:off x="502920" y="1874519"/>
            <a:ext cx="111556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84248"/>
            <a:ext cx="3840480" cy="73152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Salinan Agent On Rails</a:t>
            </a:r>
          </a:p>
        </p:txBody>
      </p:sp>
      <p:sp>
        <p:nvSpPr>
          <p:cNvPr id="8" name="TextBox 7"/>
          <p:cNvSpPr txBox="1"/>
          <p:nvPr/>
        </p:nvSpPr>
        <p:spPr>
          <a:xfrm>
            <a:off x="4572000" y="1984248"/>
            <a:ext cx="3108960" cy="731520"/>
          </a:xfrm>
          <a:prstGeom prst="rect">
            <a:avLst/>
          </a:prstGeom>
          <a:noFill/>
        </p:spPr>
        <p:txBody>
          <a:bodyPr wrap="square" lIns="0" rIns="0" tIns="0" bIns="0" anchor="t"/>
          <a:lstStyle/>
          <a:p>
            <a:pPr algn="l">
              <a:spcBef>
                <a:spcPts val="0"/>
              </a:spcBef>
              <a:spcAft>
                <a:spcPts val="0"/>
              </a:spcAft>
            </a:pPr>
            <a:r>
              <a:rPr sz="1600" b="0" i="0">
                <a:solidFill>
                  <a:srgbClr val="1C2430"/>
                </a:solidFill>
                <a:latin typeface="Calibri"/>
              </a:rPr>
              <a:t>npm run strap</a:t>
            </a:r>
          </a:p>
        </p:txBody>
      </p:sp>
      <p:sp>
        <p:nvSpPr>
          <p:cNvPr id="9" name="TextBox 8"/>
          <p:cNvSpPr txBox="1"/>
          <p:nvPr/>
        </p:nvSpPr>
        <p:spPr>
          <a:xfrm>
            <a:off x="7680960" y="1984248"/>
            <a:ext cx="3749039" cy="731520"/>
          </a:xfrm>
          <a:prstGeom prst="rect">
            <a:avLst/>
          </a:prstGeom>
          <a:noFill/>
        </p:spPr>
        <p:txBody>
          <a:bodyPr wrap="square" lIns="0" rIns="0" tIns="0" bIns="0" anchor="t"/>
          <a:lstStyle/>
          <a:p>
            <a:pPr algn="l">
              <a:spcBef>
                <a:spcPts val="0"/>
              </a:spcBef>
              <a:spcAft>
                <a:spcPts val="0"/>
              </a:spcAft>
            </a:pPr>
            <a:r>
              <a:rPr sz="1600" b="0" i="0">
                <a:solidFill>
                  <a:srgbClr val="5C6670"/>
                </a:solidFill>
                <a:latin typeface="Calibri"/>
              </a:rPr>
              <a:t>Untuk langkah berikutnya. Bukan untuk chat.</a:t>
            </a:r>
          </a:p>
        </p:txBody>
      </p:sp>
      <p:sp>
        <p:nvSpPr>
          <p:cNvPr id="10" name="Rectangle 9"/>
          <p:cNvSpPr/>
          <p:nvPr/>
        </p:nvSpPr>
        <p:spPr>
          <a:xfrm>
            <a:off x="502920" y="2926079"/>
            <a:ext cx="111556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35808"/>
            <a:ext cx="3840480" cy="73152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Dokumen spec</a:t>
            </a:r>
          </a:p>
        </p:txBody>
      </p:sp>
      <p:sp>
        <p:nvSpPr>
          <p:cNvPr id="12" name="TextBox 11"/>
          <p:cNvSpPr txBox="1"/>
          <p:nvPr/>
        </p:nvSpPr>
        <p:spPr>
          <a:xfrm>
            <a:off x="4572000" y="3035808"/>
            <a:ext cx="3108960" cy="731520"/>
          </a:xfrm>
          <a:prstGeom prst="rect">
            <a:avLst/>
          </a:prstGeom>
          <a:noFill/>
        </p:spPr>
        <p:txBody>
          <a:bodyPr wrap="square" lIns="0" rIns="0" tIns="0" bIns="0" anchor="t"/>
          <a:lstStyle/>
          <a:p>
            <a:pPr algn="l">
              <a:spcBef>
                <a:spcPts val="0"/>
              </a:spcBef>
              <a:spcAft>
                <a:spcPts val="0"/>
              </a:spcAft>
            </a:pPr>
            <a:r>
              <a:rPr sz="1600" b="0" i="0">
                <a:solidFill>
                  <a:srgbClr val="1C2430"/>
                </a:solidFill>
                <a:latin typeface="Calibri"/>
              </a:rPr>
              <a:t>npm run specs</a:t>
            </a:r>
          </a:p>
        </p:txBody>
      </p:sp>
      <p:sp>
        <p:nvSpPr>
          <p:cNvPr id="13" name="TextBox 12"/>
          <p:cNvSpPr txBox="1"/>
          <p:nvPr/>
        </p:nvSpPr>
        <p:spPr>
          <a:xfrm>
            <a:off x="7680960" y="3035808"/>
            <a:ext cx="3749039" cy="731520"/>
          </a:xfrm>
          <a:prstGeom prst="rect">
            <a:avLst/>
          </a:prstGeom>
          <a:noFill/>
        </p:spPr>
        <p:txBody>
          <a:bodyPr wrap="square" lIns="0" rIns="0" tIns="0" bIns="0" anchor="t"/>
          <a:lstStyle/>
          <a:p>
            <a:pPr algn="l">
              <a:spcBef>
                <a:spcPts val="0"/>
              </a:spcBef>
              <a:spcAft>
                <a:spcPts val="0"/>
              </a:spcAft>
            </a:pPr>
            <a:r>
              <a:rPr sz="1600" b="0" i="0">
                <a:solidFill>
                  <a:srgbClr val="5C6670"/>
                </a:solidFill>
                <a:latin typeface="Calibri"/>
              </a:rPr>
              <a:t>Untuk kita buka. Chat tidak membacanya.</a:t>
            </a:r>
          </a:p>
        </p:txBody>
      </p:sp>
      <p:sp>
        <p:nvSpPr>
          <p:cNvPr id="14" name="Rectangle 13"/>
          <p:cNvSpPr/>
          <p:nvPr/>
        </p:nvSpPr>
        <p:spPr>
          <a:xfrm>
            <a:off x="502920" y="3977639"/>
            <a:ext cx="111556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87368"/>
            <a:ext cx="3840480" cy="73152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Catatan tiap alat</a:t>
            </a:r>
          </a:p>
        </p:txBody>
      </p:sp>
      <p:sp>
        <p:nvSpPr>
          <p:cNvPr id="16" name="TextBox 15"/>
          <p:cNvSpPr txBox="1"/>
          <p:nvPr/>
        </p:nvSpPr>
        <p:spPr>
          <a:xfrm>
            <a:off x="4572000" y="4087368"/>
            <a:ext cx="3108960" cy="731520"/>
          </a:xfrm>
          <a:prstGeom prst="rect">
            <a:avLst/>
          </a:prstGeom>
          <a:noFill/>
        </p:spPr>
        <p:txBody>
          <a:bodyPr wrap="square" lIns="0" rIns="0" tIns="0" bIns="0" anchor="t"/>
          <a:lstStyle/>
          <a:p>
            <a:pPr algn="l">
              <a:spcBef>
                <a:spcPts val="0"/>
              </a:spcBef>
              <a:spcAft>
                <a:spcPts val="0"/>
              </a:spcAft>
            </a:pPr>
            <a:r>
              <a:rPr sz="1600" b="0" i="0">
                <a:solidFill>
                  <a:srgbClr val="1C2430"/>
                </a:solidFill>
                <a:latin typeface="Calibri"/>
              </a:rPr>
              <a:t>perintah yang sama</a:t>
            </a:r>
          </a:p>
        </p:txBody>
      </p:sp>
      <p:sp>
        <p:nvSpPr>
          <p:cNvPr id="17" name="TextBox 16"/>
          <p:cNvSpPr txBox="1"/>
          <p:nvPr/>
        </p:nvSpPr>
        <p:spPr>
          <a:xfrm>
            <a:off x="7680960" y="4087368"/>
            <a:ext cx="3749039" cy="731520"/>
          </a:xfrm>
          <a:prstGeom prst="rect">
            <a:avLst/>
          </a:prstGeom>
          <a:noFill/>
        </p:spPr>
        <p:txBody>
          <a:bodyPr wrap="square" lIns="0" rIns="0" tIns="0" bIns="0" anchor="t"/>
          <a:lstStyle/>
          <a:p>
            <a:pPr algn="l">
              <a:spcBef>
                <a:spcPts val="0"/>
              </a:spcBef>
              <a:spcAft>
                <a:spcPts val="0"/>
              </a:spcAft>
            </a:pPr>
            <a:r>
              <a:rPr sz="1600" b="0" i="0">
                <a:solidFill>
                  <a:srgbClr val="5C6670"/>
                </a:solidFill>
                <a:latin typeface="Calibri"/>
              </a:rPr>
              <a:t>Chip di chat membukanya. Model tidak.</a:t>
            </a:r>
          </a:p>
        </p:txBody>
      </p:sp>
      <p:sp>
        <p:nvSpPr>
          <p:cNvPr id="18" name="Rectangle 17"/>
          <p:cNvSpPr/>
          <p:nvPr/>
        </p:nvSpPr>
        <p:spPr>
          <a:xfrm>
            <a:off x="502920" y="5029200"/>
            <a:ext cx="1115568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138928"/>
            <a:ext cx="3840480" cy="73152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Laporan train</a:t>
            </a:r>
          </a:p>
        </p:txBody>
      </p:sp>
      <p:sp>
        <p:nvSpPr>
          <p:cNvPr id="20" name="TextBox 19"/>
          <p:cNvSpPr txBox="1"/>
          <p:nvPr/>
        </p:nvSpPr>
        <p:spPr>
          <a:xfrm>
            <a:off x="4572000" y="5138928"/>
            <a:ext cx="3108960" cy="731520"/>
          </a:xfrm>
          <a:prstGeom prst="rect">
            <a:avLst/>
          </a:prstGeom>
          <a:noFill/>
        </p:spPr>
        <p:txBody>
          <a:bodyPr wrap="square" lIns="0" rIns="0" tIns="0" bIns="0" anchor="t"/>
          <a:lstStyle/>
          <a:p>
            <a:pPr algn="l">
              <a:spcBef>
                <a:spcPts val="0"/>
              </a:spcBef>
              <a:spcAft>
                <a:spcPts val="0"/>
              </a:spcAft>
            </a:pPr>
            <a:r>
              <a:rPr sz="1600" b="0" i="0">
                <a:solidFill>
                  <a:srgbClr val="1C2430"/>
                </a:solidFill>
                <a:latin typeface="Calibri"/>
              </a:rPr>
              <a:t>npm run train</a:t>
            </a:r>
          </a:p>
        </p:txBody>
      </p:sp>
      <p:sp>
        <p:nvSpPr>
          <p:cNvPr id="21" name="TextBox 20"/>
          <p:cNvSpPr txBox="1"/>
          <p:nvPr/>
        </p:nvSpPr>
        <p:spPr>
          <a:xfrm>
            <a:off x="7680960" y="5138928"/>
            <a:ext cx="3749039" cy="731520"/>
          </a:xfrm>
          <a:prstGeom prst="rect">
            <a:avLst/>
          </a:prstGeom>
          <a:noFill/>
        </p:spPr>
        <p:txBody>
          <a:bodyPr wrap="square" lIns="0" rIns="0" tIns="0" bIns="0" anchor="t"/>
          <a:lstStyle/>
          <a:p>
            <a:pPr algn="l">
              <a:spcBef>
                <a:spcPts val="0"/>
              </a:spcBef>
              <a:spcAft>
                <a:spcPts val="0"/>
              </a:spcAft>
            </a:pPr>
            <a:r>
              <a:rPr sz="1600" b="0" i="0">
                <a:solidFill>
                  <a:srgbClr val="5C6670"/>
                </a:solidFill>
                <a:latin typeface="Calibri"/>
              </a:rPr>
              <a:t>Inilah yang ditiru chat, setiap jawaban.</a:t>
            </a:r>
          </a:p>
        </p:txBody>
      </p:sp>
      <p:sp>
        <p:nvSpPr>
          <p:cNvPr id="22" name="TextBox 21"/>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23" name="TextBox 22"/>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RENCANA DEMO</a:t>
            </a:r>
          </a:p>
        </p:txBody>
      </p:sp>
      <p:sp>
        <p:nvSpPr>
          <p:cNvPr id="5" name="TextBox 4"/>
          <p:cNvSpPr txBox="1"/>
          <p:nvPr/>
        </p:nvSpPr>
        <p:spPr>
          <a:xfrm>
            <a:off x="502920" y="53035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Ikuti enam perintah ini. Jangan loncat.</a:t>
            </a:r>
          </a:p>
        </p:txBody>
      </p:sp>
      <p:sp>
        <p:nvSpPr>
          <p:cNvPr id="6" name="Rectangle 5"/>
          <p:cNvSpPr/>
          <p:nvPr/>
        </p:nvSpPr>
        <p:spPr>
          <a:xfrm>
            <a:off x="502920" y="1828800"/>
            <a:ext cx="11155680" cy="338328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10789920" cy="3154680"/>
          </a:xfrm>
          <a:prstGeom prst="rect">
            <a:avLst/>
          </a:prstGeom>
          <a:noFill/>
        </p:spPr>
        <p:txBody>
          <a:bodyPr wrap="none">
            <a:spAutoFit/>
          </a:bodyPr>
          <a:lstStyle/>
          <a:p>
            <a:pPr>
              <a:spcAft>
                <a:spcPts val="200"/>
              </a:spcAft>
            </a:pPr>
            <a:r>
              <a:rPr sz="1600" b="0" i="0">
                <a:solidFill>
                  <a:srgbClr val="FFFFFF"/>
                </a:solidFill>
                <a:latin typeface="Menlo"/>
              </a:rPr>
              <a:t>1   npm run pull         qwen3.5:latest di Ollama lokal</a:t>
            </a:r>
          </a:p>
          <a:p>
            <a:pPr>
              <a:spcAft>
                <a:spcPts val="200"/>
              </a:spcAft>
            </a:pPr>
            <a:r>
              <a:rPr sz="1600" b="0" i="0">
                <a:solidFill>
                  <a:srgbClr val="FFFFFF"/>
                </a:solidFill>
                <a:latin typeface="Menlo"/>
              </a:rPr>
              <a:t>2   npm run strap        salin Agent On Rails ke vendor/aor</a:t>
            </a:r>
          </a:p>
          <a:p>
            <a:pPr>
              <a:spcAft>
                <a:spcPts val="200"/>
              </a:spcAft>
            </a:pPr>
            <a:r>
              <a:rPr sz="1600" b="0" i="0">
                <a:solidFill>
                  <a:srgbClr val="FFFFFF"/>
                </a:solidFill>
                <a:latin typeface="Menlo"/>
              </a:rPr>
              <a:t>3   npm run contracts    vibe.md → pack dan skema</a:t>
            </a:r>
          </a:p>
          <a:p>
            <a:pPr>
              <a:spcAft>
                <a:spcPts val="200"/>
              </a:spcAft>
            </a:pPr>
            <a:r>
              <a:rPr sz="1600" b="0" i="0">
                <a:solidFill>
                  <a:srgbClr val="FFFFFF"/>
                </a:solidFill>
                <a:latin typeface="Menlo"/>
              </a:rPr>
              <a:t>4   npm run specs        hasilkan specs/          (gitignored)</a:t>
            </a:r>
          </a:p>
          <a:p>
            <a:pPr>
              <a:spcAft>
                <a:spcPts val="200"/>
              </a:spcAft>
            </a:pPr>
            <a:r>
              <a:rPr sz="1600" b="0" i="0">
                <a:solidFill>
                  <a:srgbClr val="FFFFFF"/>
                </a:solidFill>
                <a:latin typeface="Menlo"/>
              </a:rPr>
              <a:t>5   npm run train        pack + S1–S6 → latest.md</a:t>
            </a:r>
          </a:p>
          <a:p>
            <a:pPr>
              <a:spcAft>
                <a:spcPts val="200"/>
              </a:spcAft>
            </a:pPr>
            <a:r>
              <a:rPr sz="1600" b="0" i="0">
                <a:solidFill>
                  <a:srgbClr val="FFFFFF"/>
                </a:solidFill>
                <a:latin typeface="Menlo"/>
              </a:rPr>
              <a:t>6   npm run demo         hasilkan ulang specs, chat di :3000</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DIAGRAM</a:t>
            </a:r>
          </a:p>
        </p:txBody>
      </p:sp>
      <p:sp>
        <p:nvSpPr>
          <p:cNvPr id="5" name="TextBox 4"/>
          <p:cNvSpPr txBox="1"/>
          <p:nvPr/>
        </p:nvSpPr>
        <p:spPr>
          <a:xfrm>
            <a:off x="502920" y="475488"/>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Satu arah. Jangan loncat.</a:t>
            </a:r>
          </a:p>
        </p:txBody>
      </p:sp>
      <p:sp>
        <p:nvSpPr>
          <p:cNvPr id="6" name="Rounded Rectangle 5"/>
          <p:cNvSpPr/>
          <p:nvPr/>
        </p:nvSpPr>
        <p:spPr>
          <a:xfrm>
            <a:off x="457200" y="1874519"/>
            <a:ext cx="3246120" cy="141732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6596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1  pull</a:t>
            </a:r>
          </a:p>
        </p:txBody>
      </p:sp>
      <p:sp>
        <p:nvSpPr>
          <p:cNvPr id="8" name="TextBox 7"/>
          <p:cNvSpPr txBox="1"/>
          <p:nvPr/>
        </p:nvSpPr>
        <p:spPr>
          <a:xfrm>
            <a:off x="566928" y="231343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qwen3.5:latest</a:t>
            </a:r>
          </a:p>
          <a:p>
            <a:pPr algn="l">
              <a:spcBef>
                <a:spcPts val="0"/>
              </a:spcBef>
              <a:spcAft>
                <a:spcPts val="0"/>
              </a:spcAft>
            </a:pPr>
            <a:r>
              <a:rPr sz="1200" b="0" i="0">
                <a:solidFill>
                  <a:srgbClr val="FFFFFF"/>
                </a:solidFill>
                <a:latin typeface="Calibri"/>
              </a:rPr>
              <a:t>di Ollama</a:t>
            </a:r>
          </a:p>
        </p:txBody>
      </p:sp>
      <p:sp>
        <p:nvSpPr>
          <p:cNvPr id="9" name="Right Arrow 8"/>
          <p:cNvSpPr/>
          <p:nvPr/>
        </p:nvSpPr>
        <p:spPr>
          <a:xfrm>
            <a:off x="3767328" y="2478024"/>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874519"/>
            <a:ext cx="3246120" cy="141732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96596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2  strap</a:t>
            </a:r>
          </a:p>
        </p:txBody>
      </p:sp>
      <p:sp>
        <p:nvSpPr>
          <p:cNvPr id="12" name="TextBox 11"/>
          <p:cNvSpPr txBox="1"/>
          <p:nvPr/>
        </p:nvSpPr>
        <p:spPr>
          <a:xfrm>
            <a:off x="4361688" y="231343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Agent On Rails</a:t>
            </a:r>
          </a:p>
          <a:p>
            <a:pPr algn="l">
              <a:spcBef>
                <a:spcPts val="0"/>
              </a:spcBef>
              <a:spcAft>
                <a:spcPts val="0"/>
              </a:spcAft>
            </a:pPr>
            <a:r>
              <a:rPr sz="1200" b="0" i="0">
                <a:solidFill>
                  <a:srgbClr val="FFFFFF"/>
                </a:solidFill>
                <a:latin typeface="Calibri"/>
              </a:rPr>
              <a:t>masuk vendor/aor</a:t>
            </a:r>
          </a:p>
        </p:txBody>
      </p:sp>
      <p:sp>
        <p:nvSpPr>
          <p:cNvPr id="13" name="Right Arrow 12"/>
          <p:cNvSpPr/>
          <p:nvPr/>
        </p:nvSpPr>
        <p:spPr>
          <a:xfrm>
            <a:off x="7562088" y="2478024"/>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874519"/>
            <a:ext cx="3246120" cy="141732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196596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3  contracts</a:t>
            </a:r>
          </a:p>
        </p:txBody>
      </p:sp>
      <p:sp>
        <p:nvSpPr>
          <p:cNvPr id="16" name="TextBox 15"/>
          <p:cNvSpPr txBox="1"/>
          <p:nvPr/>
        </p:nvSpPr>
        <p:spPr>
          <a:xfrm>
            <a:off x="8156448" y="231343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vibe.md menjadi</a:t>
            </a:r>
          </a:p>
          <a:p>
            <a:pPr algn="l">
              <a:spcBef>
                <a:spcPts val="0"/>
              </a:spcBef>
              <a:spcAft>
                <a:spcPts val="0"/>
              </a:spcAft>
            </a:pPr>
            <a:r>
              <a:rPr sz="1200" b="0" i="0">
                <a:solidFill>
                  <a:srgbClr val="FFFFFF"/>
                </a:solidFill>
                <a:latin typeface="Calibri"/>
              </a:rPr>
              <a:t>pack dan skema</a:t>
            </a:r>
          </a:p>
        </p:txBody>
      </p:sp>
      <p:sp>
        <p:nvSpPr>
          <p:cNvPr id="17" name="Down Arrow 16"/>
          <p:cNvSpPr/>
          <p:nvPr/>
        </p:nvSpPr>
        <p:spPr>
          <a:xfrm>
            <a:off x="5897880" y="3383280"/>
            <a:ext cx="256032" cy="292608"/>
          </a:xfrm>
          <a:prstGeom prst="down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3794760"/>
            <a:ext cx="3246120" cy="141732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88620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4  specs</a:t>
            </a:r>
          </a:p>
        </p:txBody>
      </p:sp>
      <p:sp>
        <p:nvSpPr>
          <p:cNvPr id="20" name="TextBox 19"/>
          <p:cNvSpPr txBox="1"/>
          <p:nvPr/>
        </p:nvSpPr>
        <p:spPr>
          <a:xfrm>
            <a:off x="566928" y="423367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Dokumen untuk kita.</a:t>
            </a:r>
          </a:p>
          <a:p>
            <a:pPr algn="l">
              <a:spcBef>
                <a:spcPts val="0"/>
              </a:spcBef>
              <a:spcAft>
                <a:spcPts val="0"/>
              </a:spcAft>
            </a:pPr>
            <a:r>
              <a:rPr sz="1200" b="0" i="0">
                <a:solidFill>
                  <a:srgbClr val="FFFFFF"/>
                </a:solidFill>
                <a:latin typeface="Calibri"/>
              </a:rPr>
              <a:t>Bukan untuk chat.</a:t>
            </a:r>
          </a:p>
        </p:txBody>
      </p:sp>
      <p:sp>
        <p:nvSpPr>
          <p:cNvPr id="21" name="Right Arrow 20"/>
          <p:cNvSpPr/>
          <p:nvPr/>
        </p:nvSpPr>
        <p:spPr>
          <a:xfrm>
            <a:off x="3767328" y="4398264"/>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51960" y="3794760"/>
            <a:ext cx="3246120" cy="141732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61688" y="388620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5  train</a:t>
            </a:r>
          </a:p>
        </p:txBody>
      </p:sp>
      <p:sp>
        <p:nvSpPr>
          <p:cNvPr id="24" name="TextBox 23"/>
          <p:cNvSpPr txBox="1"/>
          <p:nvPr/>
        </p:nvSpPr>
        <p:spPr>
          <a:xfrm>
            <a:off x="4361688" y="423367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Enam percakapan</a:t>
            </a:r>
          </a:p>
          <a:p>
            <a:pPr algn="l">
              <a:spcBef>
                <a:spcPts val="0"/>
              </a:spcBef>
              <a:spcAft>
                <a:spcPts val="0"/>
              </a:spcAft>
            </a:pPr>
            <a:r>
              <a:rPr sz="1200" b="0" i="0">
                <a:solidFill>
                  <a:srgbClr val="FFFFFF"/>
                </a:solidFill>
                <a:latin typeface="Calibri"/>
              </a:rPr>
              <a:t>menjadi laporan</a:t>
            </a:r>
          </a:p>
        </p:txBody>
      </p:sp>
      <p:sp>
        <p:nvSpPr>
          <p:cNvPr id="25" name="Right Arrow 24"/>
          <p:cNvSpPr/>
          <p:nvPr/>
        </p:nvSpPr>
        <p:spPr>
          <a:xfrm>
            <a:off x="7562088" y="4398264"/>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0" y="3794760"/>
            <a:ext cx="3246120" cy="141732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6448" y="3886200"/>
            <a:ext cx="302666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6  demo</a:t>
            </a:r>
          </a:p>
        </p:txBody>
      </p:sp>
      <p:sp>
        <p:nvSpPr>
          <p:cNvPr id="28" name="TextBox 27"/>
          <p:cNvSpPr txBox="1"/>
          <p:nvPr/>
        </p:nvSpPr>
        <p:spPr>
          <a:xfrm>
            <a:off x="8156448" y="4233672"/>
            <a:ext cx="3026663" cy="88696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Chat di :3000</a:t>
            </a:r>
          </a:p>
          <a:p>
            <a:pPr algn="l">
              <a:spcBef>
                <a:spcPts val="0"/>
              </a:spcBef>
              <a:spcAft>
                <a:spcPts val="0"/>
              </a:spcAft>
            </a:pPr>
            <a:r>
              <a:rPr sz="1200" b="0" i="0">
                <a:solidFill>
                  <a:srgbClr val="FFFFFF"/>
                </a:solidFill>
                <a:latin typeface="Calibri"/>
              </a:rPr>
              <a:t>dari laporan itu</a:t>
            </a:r>
          </a:p>
        </p:txBody>
      </p:sp>
      <p:sp>
        <p:nvSpPr>
          <p:cNvPr id="29" name="TextBox 28"/>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30" name="TextBox 29"/>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ARTI SELESAI</a:t>
            </a:r>
          </a:p>
        </p:txBody>
      </p:sp>
      <p:sp>
        <p:nvSpPr>
          <p:cNvPr id="5" name="TextBox 4"/>
          <p:cNvSpPr txBox="1"/>
          <p:nvPr/>
        </p:nvSpPr>
        <p:spPr>
          <a:xfrm>
            <a:off x="502920" y="53035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Hijau sudah ada. Kuning belum.</a:t>
            </a:r>
          </a:p>
        </p:txBody>
      </p:sp>
      <p:sp>
        <p:nvSpPr>
          <p:cNvPr id="6" name="TextBox 5"/>
          <p:cNvSpPr txBox="1"/>
          <p:nvPr/>
        </p:nvSpPr>
        <p:spPr>
          <a:xfrm>
            <a:off x="502920" y="1783080"/>
            <a:ext cx="11155680" cy="4480560"/>
          </a:xfrm>
          <a:prstGeom prst="rect">
            <a:avLst/>
          </a:prstGeom>
          <a:noFill/>
        </p:spPr>
        <p:txBody>
          <a:bodyPr wrap="square">
            <a:spAutoFit/>
          </a:bodyPr>
          <a:lstStyle/>
          <a:p>
            <a:pPr>
              <a:spcBef>
                <a:spcPts val="0"/>
              </a:spcBef>
              <a:spcAft>
                <a:spcPts val="1000"/>
              </a:spcAft>
            </a:pPr>
            <a:r>
              <a:rPr sz="1800" b="0" i="0">
                <a:solidFill>
                  <a:srgbClr val="1C2430"/>
                </a:solidFill>
                <a:latin typeface="Calibri"/>
              </a:rPr>
              <a:t>Pull — model qwen3.5 sudah terpasang di Ollama.</a:t>
            </a:r>
          </a:p>
          <a:p>
            <a:pPr>
              <a:spcBef>
                <a:spcPts val="0"/>
              </a:spcBef>
              <a:spcAft>
                <a:spcPts val="1000"/>
              </a:spcAft>
            </a:pPr>
            <a:r>
              <a:rPr sz="1800" b="0" i="0">
                <a:solidFill>
                  <a:srgbClr val="1C2430"/>
                </a:solidFill>
                <a:latin typeface="Calibri"/>
              </a:rPr>
              <a:t>Strap — Agent On Rails sudah disalin ke laptop ini. Tidak masuk git.</a:t>
            </a:r>
          </a:p>
          <a:p>
            <a:pPr>
              <a:spcBef>
                <a:spcPts val="0"/>
              </a:spcBef>
              <a:spcAft>
                <a:spcPts val="1000"/>
              </a:spcAft>
            </a:pPr>
            <a:r>
              <a:rPr sz="1800" b="0" i="0">
                <a:solidFill>
                  <a:srgbClr val="1C2430"/>
                </a:solidFill>
                <a:latin typeface="Calibri"/>
              </a:rPr>
              <a:t>Contracts — cerita di vibe.md sudah jadi aturan untuk model.</a:t>
            </a:r>
          </a:p>
          <a:p>
            <a:pPr>
              <a:spcBef>
                <a:spcPts val="0"/>
              </a:spcBef>
              <a:spcAft>
                <a:spcPts val="1000"/>
              </a:spcAft>
            </a:pPr>
            <a:r>
              <a:rPr sz="1800" b="0" i="0">
                <a:solidFill>
                  <a:srgbClr val="1C2430"/>
                </a:solidFill>
                <a:latin typeface="Calibri"/>
              </a:rPr>
              <a:t>Specs — folder spec sudah terisi. Sisa file lama tidak dihitung.</a:t>
            </a:r>
          </a:p>
          <a:p>
            <a:pPr>
              <a:spcBef>
                <a:spcPts val="0"/>
              </a:spcBef>
              <a:spcAft>
                <a:spcPts val="1000"/>
              </a:spcAft>
            </a:pPr>
            <a:r>
              <a:rPr sz="1800" b="0" i="0">
                <a:solidFill>
                  <a:srgbClr val="1C2430"/>
                </a:solidFill>
                <a:latin typeface="Calibri"/>
              </a:rPr>
              <a:t>Train — laporan terbaru memakai aturan yang sama dengan yang di disk.</a:t>
            </a:r>
          </a:p>
          <a:p>
            <a:pPr>
              <a:spcBef>
                <a:spcPts val="0"/>
              </a:spcBef>
              <a:spcAft>
                <a:spcPts val="1000"/>
              </a:spcAft>
            </a:pPr>
            <a:r>
              <a:rPr sz="1800" b="0" i="0">
                <a:solidFill>
                  <a:srgbClr val="1C2430"/>
                </a:solidFill>
                <a:latin typeface="Calibri"/>
              </a:rPr>
              <a:t>Demo — chat di localhost:3000. Tanpa laporan, chat menolak menjawab.</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PERCAKAPAN YANG KITA TUNJUKKAN</a:t>
            </a:r>
          </a:p>
        </p:txBody>
      </p:sp>
      <p:sp>
        <p:nvSpPr>
          <p:cNvPr id="5" name="TextBox 4"/>
          <p:cNvSpPr txBox="1"/>
          <p:nvPr/>
        </p:nvSpPr>
        <p:spPr>
          <a:xfrm>
            <a:off x="502920" y="43891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Dari “mau ke Jepang” sampai pengingat.</a:t>
            </a:r>
          </a:p>
        </p:txBody>
      </p:sp>
      <p:sp>
        <p:nvSpPr>
          <p:cNvPr id="6" name="Rounded Rectangle 5"/>
          <p:cNvSpPr/>
          <p:nvPr/>
        </p:nvSpPr>
        <p:spPr>
          <a:xfrm>
            <a:off x="347472" y="1874519"/>
            <a:ext cx="1965960" cy="155448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65960"/>
            <a:ext cx="174650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S1</a:t>
            </a:r>
          </a:p>
        </p:txBody>
      </p:sp>
      <p:sp>
        <p:nvSpPr>
          <p:cNvPr id="8" name="TextBox 7"/>
          <p:cNvSpPr txBox="1"/>
          <p:nvPr/>
        </p:nvSpPr>
        <p:spPr>
          <a:xfrm>
            <a:off x="457200" y="2313432"/>
            <a:ext cx="1746504" cy="102412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Mau ke Jepang</a:t>
            </a:r>
          </a:p>
          <a:p>
            <a:pPr algn="l">
              <a:spcBef>
                <a:spcPts val="0"/>
              </a:spcBef>
              <a:spcAft>
                <a:spcPts val="0"/>
              </a:spcAft>
            </a:pPr>
            <a:r>
              <a:rPr sz="1200" b="0" i="0">
                <a:solidFill>
                  <a:srgbClr val="FFFFFF"/>
                </a:solidFill>
                <a:latin typeface="Calibri"/>
              </a:rPr>
              <a:t>Panduan, satu pertanyaan</a:t>
            </a:r>
          </a:p>
        </p:txBody>
      </p:sp>
      <p:sp>
        <p:nvSpPr>
          <p:cNvPr id="9" name="Right Arrow 8"/>
          <p:cNvSpPr/>
          <p:nvPr/>
        </p:nvSpPr>
        <p:spPr>
          <a:xfrm>
            <a:off x="2350008" y="2542032"/>
            <a:ext cx="256032" cy="182880"/>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42615" y="1874519"/>
            <a:ext cx="1965960" cy="155448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2344" y="1965960"/>
            <a:ext cx="174650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S6</a:t>
            </a:r>
          </a:p>
        </p:txBody>
      </p:sp>
      <p:sp>
        <p:nvSpPr>
          <p:cNvPr id="12" name="TextBox 11"/>
          <p:cNvSpPr txBox="1"/>
          <p:nvPr/>
        </p:nvSpPr>
        <p:spPr>
          <a:xfrm>
            <a:off x="2752344" y="2313432"/>
            <a:ext cx="1746504" cy="102412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Jakarta, besok</a:t>
            </a:r>
          </a:p>
          <a:p>
            <a:pPr algn="l">
              <a:spcBef>
                <a:spcPts val="0"/>
              </a:spcBef>
              <a:spcAft>
                <a:spcPts val="0"/>
              </a:spcAft>
            </a:pPr>
            <a:r>
              <a:rPr sz="1200" b="0" i="0">
                <a:solidFill>
                  <a:srgbClr val="FFFFFF"/>
                </a:solidFill>
                <a:latin typeface="Calibri"/>
              </a:rPr>
              <a:t>Tiga penerbangan</a:t>
            </a:r>
          </a:p>
        </p:txBody>
      </p:sp>
      <p:sp>
        <p:nvSpPr>
          <p:cNvPr id="13" name="Right Arrow 12"/>
          <p:cNvSpPr/>
          <p:nvPr/>
        </p:nvSpPr>
        <p:spPr>
          <a:xfrm>
            <a:off x="4645151" y="2542032"/>
            <a:ext cx="256032" cy="182880"/>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59" y="1874519"/>
            <a:ext cx="1965960" cy="155448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7488" y="1965960"/>
            <a:ext cx="174650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S3</a:t>
            </a:r>
          </a:p>
        </p:txBody>
      </p:sp>
      <p:sp>
        <p:nvSpPr>
          <p:cNvPr id="16" name="TextBox 15"/>
          <p:cNvSpPr txBox="1"/>
          <p:nvPr/>
        </p:nvSpPr>
        <p:spPr>
          <a:xfrm>
            <a:off x="5047488" y="2313432"/>
            <a:ext cx="1746504" cy="102412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Nomor 2, hotel</a:t>
            </a:r>
          </a:p>
          <a:p>
            <a:pPr algn="l">
              <a:spcBef>
                <a:spcPts val="0"/>
              </a:spcBef>
              <a:spcAft>
                <a:spcPts val="0"/>
              </a:spcAft>
            </a:pPr>
            <a:r>
              <a:rPr sz="1200" b="0" i="0">
                <a:solidFill>
                  <a:srgbClr val="FFFFFF"/>
                </a:solidFill>
                <a:latin typeface="Calibri"/>
              </a:rPr>
              <a:t>Nama dan area</a:t>
            </a:r>
          </a:p>
        </p:txBody>
      </p:sp>
      <p:sp>
        <p:nvSpPr>
          <p:cNvPr id="17" name="Right Arrow 16"/>
          <p:cNvSpPr/>
          <p:nvPr/>
        </p:nvSpPr>
        <p:spPr>
          <a:xfrm>
            <a:off x="6940295" y="2542032"/>
            <a:ext cx="256032" cy="182880"/>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32903" y="1874519"/>
            <a:ext cx="1965960" cy="155448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2631" y="1965960"/>
            <a:ext cx="174650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S4</a:t>
            </a:r>
          </a:p>
        </p:txBody>
      </p:sp>
      <p:sp>
        <p:nvSpPr>
          <p:cNvPr id="20" name="TextBox 19"/>
          <p:cNvSpPr txBox="1"/>
          <p:nvPr/>
        </p:nvSpPr>
        <p:spPr>
          <a:xfrm>
            <a:off x="7342631" y="2313432"/>
            <a:ext cx="1746504" cy="102412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Jam 3 pagi</a:t>
            </a:r>
          </a:p>
          <a:p>
            <a:pPr algn="l">
              <a:spcBef>
                <a:spcPts val="0"/>
              </a:spcBef>
              <a:spcAft>
                <a:spcPts val="0"/>
              </a:spcAft>
            </a:pPr>
            <a:r>
              <a:rPr sz="1200" b="0" i="0">
                <a:solidFill>
                  <a:srgbClr val="FFFFFF"/>
                </a:solidFill>
                <a:latin typeface="Calibri"/>
              </a:rPr>
              <a:t>Tidak ada di data</a:t>
            </a:r>
          </a:p>
        </p:txBody>
      </p:sp>
      <p:sp>
        <p:nvSpPr>
          <p:cNvPr id="21" name="Right Arrow 20"/>
          <p:cNvSpPr/>
          <p:nvPr/>
        </p:nvSpPr>
        <p:spPr>
          <a:xfrm>
            <a:off x="9235439" y="2542032"/>
            <a:ext cx="256032" cy="182880"/>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28047" y="1874519"/>
            <a:ext cx="1965960" cy="155448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37775" y="1965960"/>
            <a:ext cx="174650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S5</a:t>
            </a:r>
          </a:p>
        </p:txBody>
      </p:sp>
      <p:sp>
        <p:nvSpPr>
          <p:cNvPr id="24" name="TextBox 23"/>
          <p:cNvSpPr txBox="1"/>
          <p:nvPr/>
        </p:nvSpPr>
        <p:spPr>
          <a:xfrm>
            <a:off x="9637775" y="2313432"/>
            <a:ext cx="1746504" cy="1024128"/>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Kunci opsi 2</a:t>
            </a:r>
          </a:p>
          <a:p>
            <a:pPr algn="l">
              <a:spcBef>
                <a:spcPts val="0"/>
              </a:spcBef>
              <a:spcAft>
                <a:spcPts val="0"/>
              </a:spcAft>
            </a:pPr>
            <a:r>
              <a:rPr sz="1200" b="0" i="0">
                <a:solidFill>
                  <a:srgbClr val="FFFFFF"/>
                </a:solidFill>
                <a:latin typeface="Calibri"/>
              </a:rPr>
              <a:t>Tiga pengingat</a:t>
            </a:r>
          </a:p>
        </p:txBody>
      </p:sp>
      <p:sp>
        <p:nvSpPr>
          <p:cNvPr id="25" name="Rounded Rectangle 24"/>
          <p:cNvSpPr/>
          <p:nvPr/>
        </p:nvSpPr>
        <p:spPr>
          <a:xfrm>
            <a:off x="347472" y="379476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886200"/>
            <a:ext cx="5358383" cy="365760"/>
          </a:xfrm>
          <a:prstGeom prst="rect">
            <a:avLst/>
          </a:prstGeom>
          <a:noFill/>
        </p:spPr>
        <p:txBody>
          <a:bodyPr wrap="square" lIns="0" rIns="0" tIns="0" bIns="0" anchor="t"/>
          <a:lstStyle/>
          <a:p>
            <a:pPr algn="l">
              <a:spcBef>
                <a:spcPts val="0"/>
              </a:spcBef>
              <a:spcAft>
                <a:spcPts val="0"/>
              </a:spcAft>
            </a:pPr>
            <a:r>
              <a:rPr sz="1400" b="1" i="0">
                <a:solidFill>
                  <a:srgbClr val="1C2430"/>
                </a:solidFill>
                <a:latin typeface="Calibri"/>
              </a:rPr>
              <a:t>S2  halaman baru</a:t>
            </a:r>
          </a:p>
        </p:txBody>
      </p:sp>
      <p:sp>
        <p:nvSpPr>
          <p:cNvPr id="27" name="TextBox 26"/>
          <p:cNvSpPr txBox="1"/>
          <p:nvPr/>
        </p:nvSpPr>
        <p:spPr>
          <a:xfrm>
            <a:off x="457200" y="4233672"/>
            <a:ext cx="5358383" cy="795528"/>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Jakarta ke Bali, 12–15 Oktober, 2 orang.</a:t>
            </a:r>
          </a:p>
          <a:p>
            <a:pPr algn="l">
              <a:spcBef>
                <a:spcPts val="0"/>
              </a:spcBef>
              <a:spcAft>
                <a:spcPts val="0"/>
              </a:spcAft>
            </a:pPr>
            <a:r>
              <a:rPr sz="1200" b="0" i="0">
                <a:solidFill>
                  <a:srgbClr val="5C6670"/>
                </a:solidFill>
                <a:latin typeface="Calibri"/>
              </a:rPr>
              <a:t>Panduan dan tiga penerbangan sekaligus. Jangan tanya asal.</a:t>
            </a:r>
          </a:p>
        </p:txBody>
      </p:sp>
      <p:sp>
        <p:nvSpPr>
          <p:cNvPr id="28" name="Rounded Rectangle 27"/>
          <p:cNvSpPr/>
          <p:nvPr/>
        </p:nvSpPr>
        <p:spPr>
          <a:xfrm>
            <a:off x="6126480" y="3794760"/>
            <a:ext cx="562356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6208" y="3886200"/>
            <a:ext cx="5404104" cy="365760"/>
          </a:xfrm>
          <a:prstGeom prst="rect">
            <a:avLst/>
          </a:prstGeom>
          <a:noFill/>
        </p:spPr>
        <p:txBody>
          <a:bodyPr wrap="square" lIns="0" rIns="0" tIns="0" bIns="0" anchor="t"/>
          <a:lstStyle/>
          <a:p>
            <a:pPr algn="l">
              <a:spcBef>
                <a:spcPts val="0"/>
              </a:spcBef>
              <a:spcAft>
                <a:spcPts val="0"/>
              </a:spcAft>
            </a:pPr>
            <a:r>
              <a:rPr sz="1400" b="1" i="0">
                <a:solidFill>
                  <a:srgbClr val="8C3A2F"/>
                </a:solidFill>
                <a:latin typeface="Calibri"/>
              </a:rPr>
              <a:t>Yang tidak boleh</a:t>
            </a:r>
          </a:p>
        </p:txBody>
      </p:sp>
      <p:sp>
        <p:nvSpPr>
          <p:cNvPr id="30" name="TextBox 29"/>
          <p:cNvSpPr txBox="1"/>
          <p:nvPr/>
        </p:nvSpPr>
        <p:spPr>
          <a:xfrm>
            <a:off x="6236208" y="4233672"/>
            <a:ext cx="5404104" cy="795528"/>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Tanpa Rp, juta, atau rb.</a:t>
            </a:r>
          </a:p>
          <a:p>
            <a:pPr algn="l">
              <a:spcBef>
                <a:spcPts val="0"/>
              </a:spcBef>
              <a:spcAft>
                <a:spcPts val="0"/>
              </a:spcAft>
            </a:pPr>
            <a:r>
              <a:rPr sz="1200" b="0" i="0">
                <a:solidFill>
                  <a:srgbClr val="5C6670"/>
                </a:solidFill>
                <a:latin typeface="Calibri"/>
              </a:rPr>
              <a:t>Tanpa email, WhatsApp, atau voucher.</a:t>
            </a:r>
          </a:p>
        </p:txBody>
      </p:sp>
      <p:sp>
        <p:nvSpPr>
          <p:cNvPr id="31" name="TextBox 30"/>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32" name="TextBox 31"/>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DIAGRAM</a:t>
            </a:r>
          </a:p>
        </p:txBody>
      </p:sp>
      <p:sp>
        <p:nvSpPr>
          <p:cNvPr id="5" name="TextBox 4"/>
          <p:cNvSpPr txBox="1"/>
          <p:nvPr/>
        </p:nvSpPr>
        <p:spPr>
          <a:xfrm>
            <a:off x="502920" y="43891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Chat hanya membaca dua hal.</a:t>
            </a:r>
          </a:p>
        </p:txBody>
      </p:sp>
      <p:sp>
        <p:nvSpPr>
          <p:cNvPr id="6" name="Rounded Rectangle 5"/>
          <p:cNvSpPr/>
          <p:nvPr/>
        </p:nvSpPr>
        <p:spPr>
          <a:xfrm>
            <a:off x="411480" y="1783080"/>
            <a:ext cx="2286000" cy="105156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 y="1874519"/>
            <a:ext cx="2066543"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cerita</a:t>
            </a:r>
          </a:p>
        </p:txBody>
      </p:sp>
      <p:sp>
        <p:nvSpPr>
          <p:cNvPr id="8" name="TextBox 7"/>
          <p:cNvSpPr txBox="1"/>
          <p:nvPr/>
        </p:nvSpPr>
        <p:spPr>
          <a:xfrm>
            <a:off x="521208" y="2221991"/>
            <a:ext cx="2066543" cy="521207"/>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vibe.md. Ada di git.</a:t>
            </a:r>
          </a:p>
        </p:txBody>
      </p:sp>
      <p:sp>
        <p:nvSpPr>
          <p:cNvPr id="9" name="Right Arrow 8"/>
          <p:cNvSpPr/>
          <p:nvPr/>
        </p:nvSpPr>
        <p:spPr>
          <a:xfrm>
            <a:off x="2788920" y="2194560"/>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154680" y="1783080"/>
            <a:ext cx="2468880" cy="1051560"/>
          </a:xfrm>
          <a:prstGeom prst="round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874519"/>
            <a:ext cx="224942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aturan</a:t>
            </a:r>
          </a:p>
        </p:txBody>
      </p:sp>
      <p:sp>
        <p:nvSpPr>
          <p:cNvPr id="12" name="TextBox 11"/>
          <p:cNvSpPr txBox="1"/>
          <p:nvPr/>
        </p:nvSpPr>
        <p:spPr>
          <a:xfrm>
            <a:off x="3264408" y="2221991"/>
            <a:ext cx="2249424" cy="521207"/>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Untuk model. Tidak di git.</a:t>
            </a:r>
          </a:p>
        </p:txBody>
      </p:sp>
      <p:sp>
        <p:nvSpPr>
          <p:cNvPr id="13" name="Right Arrow 12"/>
          <p:cNvSpPr/>
          <p:nvPr/>
        </p:nvSpPr>
        <p:spPr>
          <a:xfrm>
            <a:off x="5715000" y="2194560"/>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80760" y="1783080"/>
            <a:ext cx="2468880" cy="105156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8" y="1874519"/>
            <a:ext cx="224942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nilai</a:t>
            </a:r>
          </a:p>
        </p:txBody>
      </p:sp>
      <p:sp>
        <p:nvSpPr>
          <p:cNvPr id="16" name="TextBox 15"/>
          <p:cNvSpPr txBox="1"/>
          <p:nvPr/>
        </p:nvSpPr>
        <p:spPr>
          <a:xfrm>
            <a:off x="6190488" y="2221991"/>
            <a:ext cx="2249424" cy="521207"/>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Enam percakapan.</a:t>
            </a:r>
          </a:p>
        </p:txBody>
      </p:sp>
      <p:sp>
        <p:nvSpPr>
          <p:cNvPr id="17" name="Right Arrow 16"/>
          <p:cNvSpPr/>
          <p:nvPr/>
        </p:nvSpPr>
        <p:spPr>
          <a:xfrm>
            <a:off x="8641080" y="2194560"/>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06840" y="1783080"/>
            <a:ext cx="2697480" cy="1051560"/>
          </a:xfrm>
          <a:prstGeom prst="round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16567" y="1874519"/>
            <a:ext cx="2478024" cy="365760"/>
          </a:xfrm>
          <a:prstGeom prst="rect">
            <a:avLst/>
          </a:prstGeom>
          <a:noFill/>
        </p:spPr>
        <p:txBody>
          <a:bodyPr wrap="square" lIns="0" rIns="0" tIns="0" bIns="0" anchor="t"/>
          <a:lstStyle/>
          <a:p>
            <a:pPr algn="l">
              <a:spcBef>
                <a:spcPts val="0"/>
              </a:spcBef>
              <a:spcAft>
                <a:spcPts val="0"/>
              </a:spcAft>
            </a:pPr>
            <a:r>
              <a:rPr sz="1400" b="1" i="0">
                <a:solidFill>
                  <a:srgbClr val="FFFFFF"/>
                </a:solidFill>
                <a:latin typeface="Calibri"/>
              </a:rPr>
              <a:t>laporan</a:t>
            </a:r>
          </a:p>
        </p:txBody>
      </p:sp>
      <p:sp>
        <p:nvSpPr>
          <p:cNvPr id="20" name="TextBox 19"/>
          <p:cNvSpPr txBox="1"/>
          <p:nvPr/>
        </p:nvSpPr>
        <p:spPr>
          <a:xfrm>
            <a:off x="9116567" y="2221991"/>
            <a:ext cx="2478024" cy="521207"/>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Yang ditiru chat.</a:t>
            </a:r>
          </a:p>
        </p:txBody>
      </p:sp>
      <p:sp>
        <p:nvSpPr>
          <p:cNvPr id="21" name="Rounded Rectangle 20"/>
          <p:cNvSpPr/>
          <p:nvPr/>
        </p:nvSpPr>
        <p:spPr>
          <a:xfrm>
            <a:off x="411480" y="3383280"/>
            <a:ext cx="22860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 y="3474720"/>
            <a:ext cx="2066543" cy="365760"/>
          </a:xfrm>
          <a:prstGeom prst="rect">
            <a:avLst/>
          </a:prstGeom>
          <a:noFill/>
        </p:spPr>
        <p:txBody>
          <a:bodyPr wrap="square" lIns="0" rIns="0" tIns="0" bIns="0" anchor="t"/>
          <a:lstStyle/>
          <a:p>
            <a:pPr algn="l">
              <a:spcBef>
                <a:spcPts val="0"/>
              </a:spcBef>
              <a:spcAft>
                <a:spcPts val="0"/>
              </a:spcAft>
            </a:pPr>
            <a:r>
              <a:rPr sz="1400" b="1" i="0">
                <a:solidFill>
                  <a:srgbClr val="1C2430"/>
                </a:solidFill>
                <a:latin typeface="Calibri"/>
              </a:rPr>
              <a:t>requirements</a:t>
            </a:r>
          </a:p>
        </p:txBody>
      </p:sp>
      <p:sp>
        <p:nvSpPr>
          <p:cNvPr id="23" name="TextBox 22"/>
          <p:cNvSpPr txBox="1"/>
          <p:nvPr/>
        </p:nvSpPr>
        <p:spPr>
          <a:xfrm>
            <a:off x="521208" y="3822191"/>
            <a:ext cx="2066543" cy="521207"/>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Dibaca npm run specs.</a:t>
            </a:r>
          </a:p>
        </p:txBody>
      </p:sp>
      <p:sp>
        <p:nvSpPr>
          <p:cNvPr id="24" name="Right Arrow 23"/>
          <p:cNvSpPr/>
          <p:nvPr/>
        </p:nvSpPr>
        <p:spPr>
          <a:xfrm>
            <a:off x="2788920" y="3794760"/>
            <a:ext cx="292608" cy="201168"/>
          </a:xfrm>
          <a:prstGeom prst="rightArrow">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54680" y="3383280"/>
            <a:ext cx="246888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4408" y="3474720"/>
            <a:ext cx="2249424" cy="365760"/>
          </a:xfrm>
          <a:prstGeom prst="rect">
            <a:avLst/>
          </a:prstGeom>
          <a:noFill/>
        </p:spPr>
        <p:txBody>
          <a:bodyPr wrap="square" lIns="0" rIns="0" tIns="0" bIns="0" anchor="t"/>
          <a:lstStyle/>
          <a:p>
            <a:pPr algn="l">
              <a:spcBef>
                <a:spcPts val="0"/>
              </a:spcBef>
              <a:spcAft>
                <a:spcPts val="0"/>
              </a:spcAft>
            </a:pPr>
            <a:r>
              <a:rPr sz="1400" b="1" i="0">
                <a:solidFill>
                  <a:srgbClr val="1C2430"/>
                </a:solidFill>
                <a:latin typeface="Calibri"/>
              </a:rPr>
              <a:t>specs/</a:t>
            </a:r>
          </a:p>
        </p:txBody>
      </p:sp>
      <p:sp>
        <p:nvSpPr>
          <p:cNvPr id="27" name="TextBox 26"/>
          <p:cNvSpPr txBox="1"/>
          <p:nvPr/>
        </p:nvSpPr>
        <p:spPr>
          <a:xfrm>
            <a:off x="3264408" y="3822191"/>
            <a:ext cx="2249424" cy="521207"/>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Untuk ruangan.</a:t>
            </a:r>
          </a:p>
        </p:txBody>
      </p:sp>
      <p:sp>
        <p:nvSpPr>
          <p:cNvPr id="28" name="Rounded Rectangle 27"/>
          <p:cNvSpPr/>
          <p:nvPr/>
        </p:nvSpPr>
        <p:spPr>
          <a:xfrm>
            <a:off x="6080760" y="3383280"/>
            <a:ext cx="5623560" cy="1051560"/>
          </a:xfrm>
          <a:prstGeom prst="roundRect">
            <a:avLst/>
          </a:prstGeom>
          <a:solidFill>
            <a:srgbClr val="E4C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0488" y="3474720"/>
            <a:ext cx="5404104" cy="365760"/>
          </a:xfrm>
          <a:prstGeom prst="rect">
            <a:avLst/>
          </a:prstGeom>
          <a:noFill/>
        </p:spPr>
        <p:txBody>
          <a:bodyPr wrap="square" lIns="0" rIns="0" tIns="0" bIns="0" anchor="t"/>
          <a:lstStyle/>
          <a:p>
            <a:pPr algn="l">
              <a:spcBef>
                <a:spcPts val="0"/>
              </a:spcBef>
              <a:spcAft>
                <a:spcPts val="0"/>
              </a:spcAft>
            </a:pPr>
            <a:r>
              <a:rPr sz="1400" b="1" i="0">
                <a:solidFill>
                  <a:srgbClr val="12312C"/>
                </a:solidFill>
                <a:latin typeface="Calibri"/>
              </a:rPr>
              <a:t>Jawaban di layar</a:t>
            </a:r>
          </a:p>
        </p:txBody>
      </p:sp>
      <p:sp>
        <p:nvSpPr>
          <p:cNvPr id="30" name="TextBox 29"/>
          <p:cNvSpPr txBox="1"/>
          <p:nvPr/>
        </p:nvSpPr>
        <p:spPr>
          <a:xfrm>
            <a:off x="6190488" y="3822191"/>
            <a:ext cx="5404104" cy="521207"/>
          </a:xfrm>
          <a:prstGeom prst="rect">
            <a:avLst/>
          </a:prstGeom>
          <a:noFill/>
        </p:spPr>
        <p:txBody>
          <a:bodyPr wrap="square" lIns="0" rIns="0" tIns="0" bIns="0" anchor="t"/>
          <a:lstStyle/>
          <a:p>
            <a:pPr algn="l">
              <a:spcBef>
                <a:spcPts val="0"/>
              </a:spcBef>
              <a:spcAft>
                <a:spcPts val="0"/>
              </a:spcAft>
            </a:pPr>
            <a:r>
              <a:rPr sz="1200" b="0" i="0">
                <a:solidFill>
                  <a:srgbClr val="12312C"/>
                </a:solidFill>
                <a:latin typeface="Calibri"/>
              </a:rPr>
              <a:t>aturan + laporan  →  model  →  chat</a:t>
            </a:r>
          </a:p>
        </p:txBody>
      </p:sp>
      <p:sp>
        <p:nvSpPr>
          <p:cNvPr id="31" name="TextBox 30"/>
          <p:cNvSpPr txBox="1"/>
          <p:nvPr/>
        </p:nvSpPr>
        <p:spPr>
          <a:xfrm>
            <a:off x="457200" y="4709160"/>
            <a:ext cx="11155680" cy="118872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Model tidak membuka file spec.</a:t>
            </a:r>
          </a:p>
          <a:p>
            <a:pPr algn="l">
              <a:spcBef>
                <a:spcPts val="0"/>
              </a:spcBef>
              <a:spcAft>
                <a:spcPts val="0"/>
              </a:spcAft>
            </a:pPr>
            <a:r>
              <a:rPr sz="1800" b="0" i="0">
                <a:solidFill>
                  <a:srgbClr val="5C6670"/>
                </a:solidFill>
                <a:latin typeface="Calibri"/>
              </a:rPr>
              <a:t>Chip di bawah jawaban yang membuka file itu, supaya kita bisa membacanya.</a:t>
            </a:r>
          </a:p>
        </p:txBody>
      </p:sp>
      <p:sp>
        <p:nvSpPr>
          <p:cNvPr id="32" name="TextBox 31"/>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33" name="TextBox 32"/>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INVENTARIS</a:t>
            </a:r>
          </a:p>
        </p:txBody>
      </p:sp>
      <p:sp>
        <p:nvSpPr>
          <p:cNvPr id="5" name="TextBox 4"/>
          <p:cNvSpPr txBox="1"/>
          <p:nvPr/>
        </p:nvSpPr>
        <p:spPr>
          <a:xfrm>
            <a:off x="502920" y="53035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Harga ada di data. Chat tidak boleh melihatnya.</a:t>
            </a:r>
          </a:p>
        </p:txBody>
      </p:sp>
      <p:sp>
        <p:nvSpPr>
          <p:cNvPr id="6" name="TextBox 5"/>
          <p:cNvSpPr txBox="1"/>
          <p:nvPr/>
        </p:nvSpPr>
        <p:spPr>
          <a:xfrm>
            <a:off x="502920" y="178308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Panduan yang ada: Bali, Tokyo kalau mereka bilang Jepang, dan Singapura.</a:t>
            </a:r>
          </a:p>
          <a:p>
            <a:pPr>
              <a:spcBef>
                <a:spcPts val="0"/>
              </a:spcBef>
              <a:spcAft>
                <a:spcPts val="1000"/>
              </a:spcAft>
            </a:pPr>
            <a:r>
              <a:rPr sz="2000" b="0" i="0">
                <a:solidFill>
                  <a:srgbClr val="1C2430"/>
                </a:solidFill>
                <a:latin typeface="Calibri"/>
              </a:rPr>
              <a:t>Penerbangan dari Jakarta: Bali, Singapura, dan Tokyo.</a:t>
            </a:r>
          </a:p>
          <a:p>
            <a:pPr>
              <a:spcBef>
                <a:spcPts val="0"/>
              </a:spcBef>
              <a:spcAft>
                <a:spcPts val="1000"/>
              </a:spcAft>
            </a:pPr>
            <a:r>
              <a:rPr sz="2000" b="0" i="0">
                <a:solidFill>
                  <a:srgbClr val="1C2430"/>
                </a:solidFill>
                <a:latin typeface="Calibri"/>
              </a:rPr>
              <a:t>Yang nyata ke Bali: QZ-751, GA-404, JT-39.</a:t>
            </a:r>
          </a:p>
          <a:p>
            <a:pPr>
              <a:spcBef>
                <a:spcPts val="0"/>
              </a:spcBef>
              <a:spcAft>
                <a:spcPts val="1000"/>
              </a:spcAft>
            </a:pPr>
            <a:r>
              <a:rPr sz="2000" b="0" i="0">
                <a:solidFill>
                  <a:srgbClr val="1C2430"/>
                </a:solidFill>
                <a:latin typeface="Calibri"/>
              </a:rPr>
              <a:t>Yang nyata ke Tokyo: JL-720, GA-880, QZ-202.</a:t>
            </a:r>
          </a:p>
          <a:p>
            <a:pPr>
              <a:spcBef>
                <a:spcPts val="0"/>
              </a:spcBef>
              <a:spcAft>
                <a:spcPts val="1000"/>
              </a:spcAft>
            </a:pPr>
            <a:r>
              <a:rPr sz="2000" b="0" i="0">
                <a:solidFill>
                  <a:srgbClr val="1C2430"/>
                </a:solidFill>
                <a:latin typeface="Calibri"/>
              </a:rPr>
              <a:t>Yang tidak ada: Garuda jam 3 pagi, dan hotel yang kita karang.</a:t>
            </a:r>
          </a:p>
          <a:p>
            <a:pPr>
              <a:spcBef>
                <a:spcPts val="0"/>
              </a:spcBef>
              <a:spcAft>
                <a:spcPts val="1000"/>
              </a:spcAft>
            </a:pPr>
            <a:r>
              <a:rPr sz="2000" b="0" i="0">
                <a:solidFill>
                  <a:srgbClr val="1C2430"/>
                </a:solidFill>
                <a:latin typeface="Calibri"/>
              </a:rPr>
              <a:t>Angka harga tetap di file data, lalu dibuang sebelum sampai ke model.</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0–8 MENIT</a:t>
            </a:r>
          </a:p>
        </p:txBody>
      </p:sp>
      <p:sp>
        <p:nvSpPr>
          <p:cNvPr id="5" name="TextBox 4"/>
          <p:cNvSpPr txBox="1"/>
          <p:nvPr/>
        </p:nvSpPr>
        <p:spPr>
          <a:xfrm>
            <a:off x="502920" y="530352"/>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Mulai dari kalimat orang, bukan dari menu.</a:t>
            </a:r>
          </a:p>
        </p:txBody>
      </p:sp>
      <p:sp>
        <p:nvSpPr>
          <p:cNvPr id="6" name="TextBox 5"/>
          <p:cNvSpPr txBox="1"/>
          <p:nvPr/>
        </p:nvSpPr>
        <p:spPr>
          <a:xfrm>
            <a:off x="502920" y="178308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Mereka mau tahu kotanya, hari-harinya, dan apa yang tidak kita karang.</a:t>
            </a:r>
          </a:p>
          <a:p>
            <a:pPr>
              <a:spcBef>
                <a:spcPts val="0"/>
              </a:spcBef>
              <a:spcAft>
                <a:spcPts val="1000"/>
              </a:spcAft>
            </a:pPr>
            <a:r>
              <a:rPr sz="2000" b="0" i="0">
                <a:solidFill>
                  <a:srgbClr val="1C2430"/>
                </a:solidFill>
                <a:latin typeface="Calibri"/>
              </a:rPr>
              <a:t>Mereka tidak mau harga paket.</a:t>
            </a:r>
          </a:p>
          <a:p>
            <a:pPr>
              <a:spcBef>
                <a:spcPts val="0"/>
              </a:spcBef>
              <a:spcAft>
                <a:spcPts val="1000"/>
              </a:spcAft>
            </a:pPr>
            <a:r>
              <a:rPr sz="2000" b="0" i="0">
                <a:solidFill>
                  <a:srgbClr val="1C2430"/>
                </a:solidFill>
                <a:latin typeface="Calibri"/>
              </a:rPr>
              <a:t>Model yang “ramah” biasanya mengarang nomor pesawat dan tarif. Itu yang kita hindari.</a:t>
            </a:r>
          </a:p>
          <a:p>
            <a:pPr>
              <a:spcBef>
                <a:spcPts val="0"/>
              </a:spcBef>
              <a:spcAft>
                <a:spcPts val="1000"/>
              </a:spcAft>
            </a:pPr>
            <a:r>
              <a:rPr sz="2000" b="0" i="0">
                <a:solidFill>
                  <a:srgbClr val="1C2430"/>
                </a:solidFill>
                <a:latin typeface="Calibri"/>
              </a:rPr>
              <a:t>Kalau ditanya “ini Maya?”: cara melatihnya sama, produknya beda.</a:t>
            </a:r>
          </a:p>
          <a:p>
            <a:pPr lvl="1">
              <a:spcBef>
                <a:spcPts val="0"/>
              </a:spcBef>
              <a:spcAft>
                <a:spcPts val="400"/>
              </a:spcAft>
            </a:pPr>
            <a:r>
              <a:rPr sz="1800" b="0" i="0">
                <a:solidFill>
                  <a:srgbClr val="1C2430"/>
                </a:solidFill>
                <a:latin typeface="Calibri"/>
              </a:rPr>
              <a:t>Maya memesan tiket kantor.</a:t>
            </a:r>
          </a:p>
          <a:p>
            <a:pPr lvl="1">
              <a:spcBef>
                <a:spcPts val="0"/>
              </a:spcBef>
              <a:spcAft>
                <a:spcPts val="400"/>
              </a:spcAft>
            </a:pPr>
            <a:r>
              <a:rPr sz="1800" b="0" i="0">
                <a:solidFill>
                  <a:srgbClr val="1C2430"/>
                </a:solidFill>
                <a:latin typeface="Calibri"/>
              </a:rPr>
              <a:t>TripSpec menyusun liburan, lalu berhenti di pengingat di aplikasi.</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8–18 MENIT</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Buka foldernya. Jangan percaya catatan pin saja.</a:t>
            </a:r>
          </a:p>
        </p:txBody>
      </p:sp>
      <p:sp>
        <p:nvSpPr>
          <p:cNvPr id="6" name="TextBox 5"/>
          <p:cNvSpPr txBox="1"/>
          <p:nvPr/>
        </p:nvSpPr>
        <p:spPr>
          <a:xfrm>
            <a:off x="502920" y="17373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npm run specs menulis dokumen. Ia tidak menilai jawaban chat.</a:t>
            </a:r>
          </a:p>
          <a:p>
            <a:pPr>
              <a:spcBef>
                <a:spcPts val="0"/>
              </a:spcBef>
              <a:spcAft>
                <a:spcPts val="1000"/>
              </a:spcAft>
            </a:pPr>
            <a:r>
              <a:rPr sz="2000" b="0" i="0">
                <a:solidFill>
                  <a:srgbClr val="1C2430"/>
                </a:solidFill>
                <a:latin typeface="Calibri"/>
              </a:rPr>
              <a:t>specs/product — ini produknya siapa.</a:t>
            </a:r>
          </a:p>
          <a:p>
            <a:pPr>
              <a:spcBef>
                <a:spcPts val="0"/>
              </a:spcBef>
              <a:spcAft>
                <a:spcPts val="1000"/>
              </a:spcAft>
            </a:pPr>
            <a:r>
              <a:rPr sz="2000" b="0" i="0">
                <a:solidFill>
                  <a:srgbClr val="1C2430"/>
                </a:solidFill>
                <a:latin typeface="Calibri"/>
              </a:rPr>
              <a:t>specs/requirements — ini syaratnya. Inilah spec yang tersimpan.</a:t>
            </a:r>
          </a:p>
          <a:p>
            <a:pPr>
              <a:spcBef>
                <a:spcPts val="0"/>
              </a:spcBef>
              <a:spcAft>
                <a:spcPts val="1000"/>
              </a:spcAft>
            </a:pPr>
            <a:r>
              <a:rPr sz="2000" b="0" i="0">
                <a:solidFill>
                  <a:srgbClr val="1C2430"/>
                </a:solidFill>
                <a:latin typeface="Calibri"/>
              </a:rPr>
              <a:t>specs/training — bentuk ujiannya. Nilainya belum.</a:t>
            </a:r>
          </a:p>
          <a:p>
            <a:pPr>
              <a:spcBef>
                <a:spcPts val="0"/>
              </a:spcBef>
              <a:spcAft>
                <a:spcPts val="1000"/>
              </a:spcAft>
            </a:pPr>
            <a:r>
              <a:rPr sz="2000" b="0" i="0">
                <a:solidFill>
                  <a:srgbClr val="1C2430"/>
                </a:solidFill>
                <a:latin typeface="Calibri"/>
              </a:rPr>
              <a:t>contracts/vibe.md — cerita yang kita tempel. Dari sinilah aturan dibuat.</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YANG BOLEH DAN YANG TIDAK</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Tiga larangan yang mudah diingat.</a:t>
            </a:r>
          </a:p>
        </p:txBody>
      </p:sp>
      <p:sp>
        <p:nvSpPr>
          <p:cNvPr id="6" name="TextBox 5"/>
          <p:cNvSpPr txBox="1"/>
          <p:nvPr/>
        </p:nvSpPr>
        <p:spPr>
          <a:xfrm>
            <a:off x="502920" y="1737360"/>
            <a:ext cx="11155680" cy="4480560"/>
          </a:xfrm>
          <a:prstGeom prst="rect">
            <a:avLst/>
          </a:prstGeom>
          <a:noFill/>
        </p:spPr>
        <p:txBody>
          <a:bodyPr wrap="square">
            <a:spAutoFit/>
          </a:bodyPr>
          <a:lstStyle/>
          <a:p>
            <a:pPr>
              <a:spcBef>
                <a:spcPts val="0"/>
              </a:spcBef>
              <a:spcAft>
                <a:spcPts val="1000"/>
              </a:spcAft>
            </a:pPr>
            <a:r>
              <a:rPr sz="1800" b="0" i="0">
                <a:solidFill>
                  <a:srgbClr val="1C2430"/>
                </a:solidFill>
                <a:latin typeface="Calibri"/>
              </a:rPr>
              <a:t>Jangan sebut harga. Walaupun orangnya yang mengetik angkanya.</a:t>
            </a:r>
          </a:p>
          <a:p>
            <a:pPr>
              <a:spcBef>
                <a:spcPts val="0"/>
              </a:spcBef>
              <a:spcAft>
                <a:spcPts val="1000"/>
              </a:spcAft>
            </a:pPr>
            <a:r>
              <a:rPr sz="1800" b="0" i="0">
                <a:solidFill>
                  <a:srgbClr val="1C2430"/>
                </a:solidFill>
                <a:latin typeface="Calibri"/>
              </a:rPr>
              <a:t>Rencana hari datang dari panduan. Hanya saat mereka pertama kali menyebut tempat.</a:t>
            </a:r>
          </a:p>
          <a:p>
            <a:pPr>
              <a:spcBef>
                <a:spcPts val="0"/>
              </a:spcBef>
              <a:spcAft>
                <a:spcPts val="1000"/>
              </a:spcAft>
            </a:pPr>
            <a:r>
              <a:rPr sz="1800" b="0" i="0">
                <a:solidFill>
                  <a:srgbClr val="1C2430"/>
                </a:solidFill>
                <a:latin typeface="Calibri"/>
              </a:rPr>
              <a:t>Tiga pesawat: maskapai, nomor, jam. Hotel hanya setelah mereka memilih.</a:t>
            </a:r>
          </a:p>
          <a:p>
            <a:pPr>
              <a:spcBef>
                <a:spcPts val="0"/>
              </a:spcBef>
              <a:spcAft>
                <a:spcPts val="1000"/>
              </a:spcAft>
            </a:pPr>
            <a:r>
              <a:rPr sz="1800" b="0" i="0">
                <a:solidFill>
                  <a:srgbClr val="1C2430"/>
                </a:solidFill>
                <a:latin typeface="Calibri"/>
              </a:rPr>
              <a:t>Panduan tempat — hanya kalau kalimat ini menyebut negara atau kota.</a:t>
            </a:r>
          </a:p>
          <a:p>
            <a:pPr>
              <a:spcBef>
                <a:spcPts val="0"/>
              </a:spcBef>
              <a:spcAft>
                <a:spcPts val="1000"/>
              </a:spcAft>
            </a:pPr>
            <a:r>
              <a:rPr sz="1800" b="0" i="0">
                <a:solidFill>
                  <a:srgbClr val="1C2430"/>
                </a:solidFill>
                <a:latin typeface="Calibri"/>
              </a:rPr>
              <a:t>Cari pesawat — asal, tujuan, dan tanggal sudah ada. “Besok” sudah cukup.</a:t>
            </a:r>
          </a:p>
          <a:p>
            <a:pPr>
              <a:spcBef>
                <a:spcPts val="0"/>
              </a:spcBef>
              <a:spcAft>
                <a:spcPts val="1000"/>
              </a:spcAft>
            </a:pPr>
            <a:r>
              <a:rPr sz="1800" b="0" i="0">
                <a:solidFill>
                  <a:srgbClr val="1C2430"/>
                </a:solidFill>
                <a:latin typeface="Calibri"/>
              </a:rPr>
              <a:t>Hotel — nama dan daerah. Pengingat — tiga judul di dalam aplikasi.</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18–36 MENIT</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Kita menilai kalimatnya. Modelnya tidak berubah.</a:t>
            </a:r>
          </a:p>
        </p:txBody>
      </p:sp>
      <p:sp>
        <p:nvSpPr>
          <p:cNvPr id="6" name="TextBox 5"/>
          <p:cNvSpPr txBox="1"/>
          <p:nvPr/>
        </p:nvSpPr>
        <p:spPr>
          <a:xfrm>
            <a:off x="502920" y="17373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Kuning: masih menunggu. Hijau: lulus. Merah: gagal.</a:t>
            </a:r>
          </a:p>
          <a:p>
            <a:pPr>
              <a:spcBef>
                <a:spcPts val="0"/>
              </a:spcBef>
              <a:spcAft>
                <a:spcPts val="1000"/>
              </a:spcAft>
            </a:pPr>
            <a:r>
              <a:rPr sz="2000" b="0" i="0">
                <a:solidFill>
                  <a:srgbClr val="1C2430"/>
                </a:solidFill>
                <a:latin typeface="Calibri"/>
              </a:rPr>
              <a:t>Data dibaca di laptop ini. Tidak ada panggilan ke maskapai.</a:t>
            </a:r>
          </a:p>
          <a:p>
            <a:pPr>
              <a:spcBef>
                <a:spcPts val="0"/>
              </a:spcBef>
              <a:spcAft>
                <a:spcPts val="1000"/>
              </a:spcAft>
            </a:pPr>
            <a:r>
              <a:rPr sz="2000" b="0" i="0">
                <a:solidFill>
                  <a:srgbClr val="1C2430"/>
                </a:solidFill>
                <a:latin typeface="Calibri"/>
              </a:rPr>
              <a:t>Model menjawab sekali, lalu kita baca teksnya.</a:t>
            </a:r>
          </a:p>
          <a:p>
            <a:pPr>
              <a:spcBef>
                <a:spcPts val="0"/>
              </a:spcBef>
              <a:spcAft>
                <a:spcPts val="1000"/>
              </a:spcAft>
            </a:pPr>
            <a:r>
              <a:rPr sz="2000" b="0" i="0">
                <a:solidFill>
                  <a:srgbClr val="1C2430"/>
                </a:solidFill>
                <a:latin typeface="Calibri"/>
              </a:rPr>
              <a:t>Diam beberapa puluh detik itu normal. Ia sedang menulis, bukan macet.</a:t>
            </a:r>
          </a:p>
          <a:p>
            <a:pPr>
              <a:spcBef>
                <a:spcPts val="0"/>
              </a:spcBef>
              <a:spcAft>
                <a:spcPts val="1000"/>
              </a:spcAft>
            </a:pPr>
            <a:r>
              <a:rPr sz="2000" b="0" i="0">
                <a:solidFill>
                  <a:srgbClr val="1C2430"/>
                </a:solidFill>
                <a:latin typeface="Calibri"/>
              </a:rPr>
              <a:t>Kalau ada Rp, juta, atau rb, nilai itu gagal.</a:t>
            </a:r>
          </a:p>
          <a:p>
            <a:pPr>
              <a:spcBef>
                <a:spcPts val="0"/>
              </a:spcBef>
              <a:spcAft>
                <a:spcPts val="1000"/>
              </a:spcAft>
            </a:pPr>
            <a:r>
              <a:rPr sz="2000" b="0" i="0">
                <a:solidFill>
                  <a:srgbClr val="1C2430"/>
                </a:solidFill>
                <a:latin typeface="Calibri"/>
              </a:rPr>
              <a:t>Laporan lama tidak ikut dinilai. Hanya chat yang membacanya.</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E4C07A"/>
                </a:solidFill>
                <a:latin typeface="Calibri"/>
              </a:rPr>
              <a:t>KAPAN KITA BOLEH BILANG LULUS</a:t>
            </a:r>
          </a:p>
        </p:txBody>
      </p:sp>
      <p:sp>
        <p:nvSpPr>
          <p:cNvPr id="4" name="TextBox 3"/>
          <p:cNvSpPr txBox="1"/>
          <p:nvPr/>
        </p:nvSpPr>
        <p:spPr>
          <a:xfrm>
            <a:off x="548640" y="1463040"/>
            <a:ext cx="10972800" cy="2194560"/>
          </a:xfrm>
          <a:prstGeom prst="rect">
            <a:avLst/>
          </a:prstGeom>
          <a:noFill/>
        </p:spPr>
        <p:txBody>
          <a:bodyPr wrap="square" lIns="0" rIns="0" tIns="0" bIns="0" anchor="t"/>
          <a:lstStyle/>
          <a:p>
            <a:pPr algn="l">
              <a:spcBef>
                <a:spcPts val="0"/>
              </a:spcBef>
              <a:spcAft>
                <a:spcPts val="0"/>
              </a:spcAft>
            </a:pPr>
            <a:r>
              <a:rPr sz="3200" b="1" i="0">
                <a:solidFill>
                  <a:srgbClr val="FFFFFF"/>
                </a:solidFill>
                <a:latin typeface="Calibri"/>
              </a:rPr>
              <a:t>Penolakan tiket palsu harus lulus.</a:t>
            </a:r>
          </a:p>
          <a:p>
            <a:pPr algn="l">
              <a:spcBef>
                <a:spcPts val="0"/>
              </a:spcBef>
              <a:spcAft>
                <a:spcPts val="0"/>
              </a:spcAft>
            </a:pPr>
            <a:r>
              <a:rPr sz="3200" b="1" i="0">
                <a:solidFill>
                  <a:srgbClr val="FFFFFF"/>
                </a:solidFill>
                <a:latin typeface="Calibri"/>
              </a:rPr>
              <a:t>Giliran kedua juga harus lulus.</a:t>
            </a:r>
          </a:p>
          <a:p>
            <a:pPr algn="l">
              <a:spcBef>
                <a:spcPts val="0"/>
              </a:spcBef>
              <a:spcAft>
                <a:spcPts val="0"/>
              </a:spcAft>
            </a:pPr>
            <a:r>
              <a:rPr sz="3200" b="1" i="0">
                <a:solidFill>
                  <a:srgbClr val="FFFFFF"/>
                </a:solidFill>
                <a:latin typeface="Calibri"/>
              </a:rPr>
              <a:t/>
            </a:r>
          </a:p>
          <a:p>
            <a:pPr algn="l">
              <a:spcBef>
                <a:spcPts val="0"/>
              </a:spcBef>
              <a:spcAft>
                <a:spcPts val="0"/>
              </a:spcAft>
            </a:pPr>
            <a:r>
              <a:rPr sz="3200" b="1" i="0">
                <a:solidFill>
                  <a:srgbClr val="FFFFFF"/>
                </a:solidFill>
                <a:latin typeface="Calibri"/>
              </a:rPr>
              <a:t>Dari enam, minimal lima hijau.</a:t>
            </a:r>
          </a:p>
        </p:txBody>
      </p:sp>
      <p:sp>
        <p:nvSpPr>
          <p:cNvPr id="5" name="TextBox 4"/>
          <p:cNvSpPr txBox="1"/>
          <p:nvPr/>
        </p:nvSpPr>
        <p:spPr>
          <a:xfrm>
            <a:off x="548640" y="4206240"/>
            <a:ext cx="10515600" cy="1280160"/>
          </a:xfrm>
          <a:prstGeom prst="rect">
            <a:avLst/>
          </a:prstGeom>
          <a:noFill/>
        </p:spPr>
        <p:txBody>
          <a:bodyPr wrap="square" lIns="0" rIns="0" tIns="0" bIns="0" anchor="t"/>
          <a:lstStyle/>
          <a:p>
            <a:pPr algn="l">
              <a:spcBef>
                <a:spcPts val="0"/>
              </a:spcBef>
              <a:spcAft>
                <a:spcPts val="0"/>
              </a:spcAft>
            </a:pPr>
            <a:r>
              <a:rPr sz="2200" b="0" i="0">
                <a:solidFill>
                  <a:srgbClr val="E4C07A"/>
                </a:solidFill>
                <a:latin typeface="Calibri"/>
              </a:rPr>
              <a:t>Satu yang merah masih boleh.</a:t>
            </a:r>
          </a:p>
          <a:p>
            <a:pPr algn="l">
              <a:spcBef>
                <a:spcPts val="0"/>
              </a:spcBef>
              <a:spcAft>
                <a:spcPts val="0"/>
              </a:spcAft>
            </a:pPr>
            <a:r>
              <a:rPr sz="2200" b="0" i="0">
                <a:solidFill>
                  <a:srgbClr val="E4C07A"/>
                </a:solidFill>
                <a:latin typeface="Calibri"/>
              </a:rPr>
              <a:t>Bacalah dulu sebelum bilang ini sudah beres.</a:t>
            </a:r>
          </a:p>
        </p:txBody>
      </p:sp>
      <p:sp>
        <p:nvSpPr>
          <p:cNvPr id="6" name="TextBox 5"/>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C9D4CE"/>
                </a:solidFill>
                <a:latin typeface="Calibri"/>
              </a:rPr>
              <a:t>TripSpec  ·  19 September 2026</a:t>
            </a:r>
          </a:p>
        </p:txBody>
      </p:sp>
      <p:sp>
        <p:nvSpPr>
          <p:cNvPr id="7" name="TextBox 6"/>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C9D4CE"/>
                </a:solidFill>
                <a:latin typeface="Calibri"/>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S1  ·  GILIRAN PERTAMA</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“Mau ke Jepang.”</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Alat: get_destination_guide saja</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Tokyo. Shinjuku, Asakusa, Shibuya.</a:t>
            </a:r>
          </a:p>
          <a:p>
            <a:pPr>
              <a:spcBef>
                <a:spcPts val="0"/>
              </a:spcBef>
              <a:spcAft>
                <a:spcPts val="1000"/>
              </a:spcAft>
            </a:pPr>
            <a:r>
              <a:rPr sz="2000" b="0" i="0">
                <a:solidFill>
                  <a:srgbClr val="1C2430"/>
                </a:solidFill>
                <a:latin typeface="Calibri"/>
              </a:rPr>
              <a:t>Catatan musim dan catatan visa dari panduan.</a:t>
            </a:r>
          </a:p>
          <a:p>
            <a:pPr>
              <a:spcBef>
                <a:spcPts val="0"/>
              </a:spcBef>
              <a:spcAft>
                <a:spcPts val="1000"/>
              </a:spcAft>
            </a:pPr>
            <a:r>
              <a:rPr sz="2000" b="0" i="0">
                <a:solidFill>
                  <a:srgbClr val="1C2430"/>
                </a:solidFill>
                <a:latin typeface="Calibri"/>
              </a:rPr>
              <a:t>Hari 1 dan Hari 2.</a:t>
            </a:r>
          </a:p>
          <a:p>
            <a:pPr>
              <a:spcBef>
                <a:spcPts val="0"/>
              </a:spcBef>
              <a:spcAft>
                <a:spcPts val="1000"/>
              </a:spcAft>
            </a:pPr>
            <a:r>
              <a:rPr sz="2000" b="0" i="0">
                <a:solidFill>
                  <a:srgbClr val="1C2430"/>
                </a:solidFill>
                <a:latin typeface="Calibri"/>
              </a:rPr>
              <a:t>Satu pertanyaan: dari mana, kapan, atau berapa orang.</a:t>
            </a:r>
          </a:p>
          <a:p>
            <a:pPr>
              <a:spcBef>
                <a:spcPts val="0"/>
              </a:spcBef>
              <a:spcAft>
                <a:spcPts val="1000"/>
              </a:spcAft>
            </a:pPr>
            <a:r>
              <a:rPr sz="2000" b="0" i="0">
                <a:solidFill>
                  <a:srgbClr val="1C2430"/>
                </a:solidFill>
                <a:latin typeface="Calibri"/>
              </a:rPr>
              <a:t>Tanpa harga.</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S6  ·  WAJIB  ·  HALAMAN YANG SAMA</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“Jakarta, besok, saya dan istri.”</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Alat: search_flights saja. Panduan tidak jalan.</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Menyebut Jakarta, besok, dan 2 orang.</a:t>
            </a:r>
          </a:p>
          <a:p>
            <a:pPr>
              <a:spcBef>
                <a:spcPts val="0"/>
              </a:spcBef>
              <a:spcAft>
                <a:spcPts val="1000"/>
              </a:spcAft>
            </a:pPr>
            <a:r>
              <a:rPr sz="2000" b="0" i="0">
                <a:solidFill>
                  <a:srgbClr val="1C2430"/>
                </a:solidFill>
                <a:latin typeface="Calibri"/>
              </a:rPr>
              <a:t>Tidak dibuka dengan “Kalau kamu bilang Jepang.”</a:t>
            </a:r>
          </a:p>
          <a:p>
            <a:pPr>
              <a:spcBef>
                <a:spcPts val="0"/>
              </a:spcBef>
              <a:spcAft>
                <a:spcPts val="1000"/>
              </a:spcAft>
            </a:pPr>
            <a:r>
              <a:rPr sz="2000" b="0" i="0">
                <a:solidFill>
                  <a:srgbClr val="1C2430"/>
                </a:solidFill>
                <a:latin typeface="Calibri"/>
              </a:rPr>
              <a:t>JL-720  Japan Airlines  22:30–07:40</a:t>
            </a:r>
          </a:p>
          <a:p>
            <a:pPr>
              <a:spcBef>
                <a:spcPts val="0"/>
              </a:spcBef>
              <a:spcAft>
                <a:spcPts val="1000"/>
              </a:spcAft>
            </a:pPr>
            <a:r>
              <a:rPr sz="2000" b="0" i="0">
                <a:solidFill>
                  <a:srgbClr val="1C2430"/>
                </a:solidFill>
                <a:latin typeface="Calibri"/>
              </a:rPr>
              <a:t>GA-880  Garuda  23:55–09:10</a:t>
            </a:r>
          </a:p>
          <a:p>
            <a:pPr>
              <a:spcBef>
                <a:spcPts val="0"/>
              </a:spcBef>
              <a:spcAft>
                <a:spcPts val="1000"/>
              </a:spcAft>
            </a:pPr>
            <a:r>
              <a:rPr sz="2000" b="0" i="0">
                <a:solidFill>
                  <a:srgbClr val="1C2430"/>
                </a:solidFill>
                <a:latin typeface="Calibri"/>
              </a:rPr>
              <a:t>QZ-202  AirAsia  21:15–06:50</a:t>
            </a:r>
          </a:p>
          <a:p>
            <a:pPr>
              <a:spcBef>
                <a:spcPts val="0"/>
              </a:spcBef>
              <a:spcAft>
                <a:spcPts val="1000"/>
              </a:spcAft>
            </a:pPr>
            <a:r>
              <a:rPr sz="2000" b="0" i="0">
                <a:solidFill>
                  <a:srgbClr val="1C2430"/>
                </a:solidFill>
                <a:latin typeface="Calibri"/>
              </a:rPr>
              <a:t>besok adalah besok. Jangan minta tanggal.</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S3  ·  SETELAH MEMILIH</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“Yang nomor 2, sekalian hotel.”</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Alat: search_hotels. Nama dan area. Tanpa tarif.</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Di utas Jepang ini:</a:t>
            </a:r>
          </a:p>
          <a:p>
            <a:pPr lvl="1">
              <a:spcBef>
                <a:spcPts val="0"/>
              </a:spcBef>
              <a:spcAft>
                <a:spcPts val="400"/>
              </a:spcAft>
            </a:pPr>
            <a:r>
              <a:rPr sz="1800" b="0" i="0">
                <a:solidFill>
                  <a:srgbClr val="1C2430"/>
                </a:solidFill>
                <a:latin typeface="Calibri"/>
              </a:rPr>
              <a:t>Shinjuku Base Hotel, Shinjuku</a:t>
            </a:r>
          </a:p>
          <a:p>
            <a:pPr lvl="1">
              <a:spcBef>
                <a:spcPts val="0"/>
              </a:spcBef>
              <a:spcAft>
                <a:spcPts val="400"/>
              </a:spcAft>
            </a:pPr>
            <a:r>
              <a:rPr sz="1800" b="0" i="0">
                <a:solidFill>
                  <a:srgbClr val="1C2430"/>
                </a:solidFill>
                <a:latin typeface="Calibri"/>
              </a:rPr>
              <a:t>Asakusa Lane Inn, Asakusa</a:t>
            </a:r>
          </a:p>
          <a:p>
            <a:pPr lvl="1">
              <a:spcBef>
                <a:spcPts val="0"/>
              </a:spcBef>
              <a:spcAft>
                <a:spcPts val="400"/>
              </a:spcAft>
            </a:pPr>
            <a:r>
              <a:rPr sz="1800" b="0" i="0">
                <a:solidFill>
                  <a:srgbClr val="1C2430"/>
                </a:solidFill>
                <a:latin typeface="Calibri"/>
              </a:rPr>
              <a:t>Shibuya Cross Hotel, Shibuya</a:t>
            </a:r>
          </a:p>
          <a:p>
            <a:pPr>
              <a:spcBef>
                <a:spcPts val="0"/>
              </a:spcBef>
              <a:spcAft>
                <a:spcPts val="1000"/>
              </a:spcAft>
            </a:pPr>
            <a:r>
              <a:rPr sz="2000" b="0" i="0">
                <a:solidFill>
                  <a:srgbClr val="1C2430"/>
                </a:solidFill>
                <a:latin typeface="Calibri"/>
              </a:rPr>
              <a:t>Kalimat Bali yang dinilai mengharapkan Kuta, Ubud, Sanur.</a:t>
            </a:r>
          </a:p>
          <a:p>
            <a:pPr>
              <a:spcBef>
                <a:spcPts val="0"/>
              </a:spcBef>
              <a:spcAft>
                <a:spcPts val="1000"/>
              </a:spcAft>
            </a:pPr>
            <a:r>
              <a:rPr sz="2000" b="0" i="0">
                <a:solidFill>
                  <a:srgbClr val="1C2430"/>
                </a:solidFill>
                <a:latin typeface="Calibri"/>
              </a:rPr>
              <a:t>Aturan sama. Kota lain.</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S4  ·  WAJIB</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“Garuda jam 3 pagi, 900rb?”</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Penerbangan itu tidak ada di data.</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Katakan tidak ada di data.</a:t>
            </a:r>
          </a:p>
          <a:p>
            <a:pPr>
              <a:spcBef>
                <a:spcPts val="0"/>
              </a:spcBef>
              <a:spcAft>
                <a:spcPts val="1000"/>
              </a:spcAft>
            </a:pPr>
            <a:r>
              <a:rPr sz="2000" b="0" i="0">
                <a:solidFill>
                  <a:srgbClr val="1C2430"/>
                </a:solidFill>
                <a:latin typeface="Calibri"/>
              </a:rPr>
              <a:t>Jangan mengiyakan GA 712 atau jam 03:00.</a:t>
            </a:r>
          </a:p>
          <a:p>
            <a:pPr>
              <a:spcBef>
                <a:spcPts val="0"/>
              </a:spcBef>
              <a:spcAft>
                <a:spcPts val="1000"/>
              </a:spcAft>
            </a:pPr>
            <a:r>
              <a:rPr sz="2000" b="0" i="0">
                <a:solidFill>
                  <a:srgbClr val="1C2430"/>
                </a:solidFill>
                <a:latin typeface="Calibri"/>
              </a:rPr>
              <a:t>Jangan mengutip 900rb, Rp, atau juta.</a:t>
            </a:r>
          </a:p>
          <a:p>
            <a:pPr>
              <a:spcBef>
                <a:spcPts val="0"/>
              </a:spcBef>
              <a:spcAft>
                <a:spcPts val="1000"/>
              </a:spcAft>
            </a:pPr>
            <a:r>
              <a:rPr sz="2000" b="0" i="0">
                <a:solidFill>
                  <a:srgbClr val="1C2430"/>
                </a:solidFill>
                <a:latin typeface="Calibri"/>
              </a:rPr>
              <a:t>Daftar penerbangan lain bukan penolakan.</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S5  ·  KUNCI</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“Kunci opsi 2 dan ingatkan aku.”</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Alat: plan_notifications. Jangan tanya slot lagi.</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Baris kunci tanpa harga.</a:t>
            </a:r>
          </a:p>
          <a:p>
            <a:pPr>
              <a:spcBef>
                <a:spcPts val="0"/>
              </a:spcBef>
              <a:spcAft>
                <a:spcPts val="1000"/>
              </a:spcAft>
            </a:pPr>
            <a:r>
              <a:rPr sz="2000" b="0" i="0">
                <a:solidFill>
                  <a:srgbClr val="1C2430"/>
                </a:solidFill>
                <a:latin typeface="Calibri"/>
              </a:rPr>
              <a:t>14 hari — Cek dokumen perjalanan</a:t>
            </a:r>
          </a:p>
          <a:p>
            <a:pPr>
              <a:spcBef>
                <a:spcPts val="0"/>
              </a:spcBef>
              <a:spcAft>
                <a:spcPts val="1000"/>
              </a:spcAft>
            </a:pPr>
            <a:r>
              <a:rPr sz="2000" b="0" i="0">
                <a:solidFill>
                  <a:srgbClr val="1C2430"/>
                </a:solidFill>
                <a:latin typeface="Calibri"/>
              </a:rPr>
              <a:t>7 hari — Kunci penerbangan dan hotel</a:t>
            </a:r>
          </a:p>
          <a:p>
            <a:pPr>
              <a:spcBef>
                <a:spcPts val="0"/>
              </a:spcBef>
              <a:spcAft>
                <a:spcPts val="1000"/>
              </a:spcAft>
            </a:pPr>
            <a:r>
              <a:rPr sz="2000" b="0" i="0">
                <a:solidFill>
                  <a:srgbClr val="1C2430"/>
                </a:solidFill>
                <a:latin typeface="Calibri"/>
              </a:rPr>
              <a:t>1 hari — Pengingat berangkat</a:t>
            </a:r>
          </a:p>
          <a:p>
            <a:pPr>
              <a:spcBef>
                <a:spcPts val="0"/>
              </a:spcBef>
              <a:spcAft>
                <a:spcPts val="1000"/>
              </a:spcAft>
            </a:pPr>
            <a:r>
              <a:rPr sz="2000" b="0" i="0">
                <a:solidFill>
                  <a:srgbClr val="1C2430"/>
                </a:solidFill>
                <a:latin typeface="Calibri"/>
              </a:rPr>
              <a:t>Balasan menyebut in-app. Tidak ada saluran lain.</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S2  ·  HALAMAN BARU</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“Jakarta ke Bali, 12–15 Oktober, 2 orang.”</a:t>
            </a:r>
          </a:p>
        </p:txBody>
      </p:sp>
      <p:sp>
        <p:nvSpPr>
          <p:cNvPr id="6" name="TextBox 5"/>
          <p:cNvSpPr txBox="1"/>
          <p:nvPr/>
        </p:nvSpPr>
        <p:spPr>
          <a:xfrm>
            <a:off x="502920" y="1691640"/>
            <a:ext cx="10972800" cy="365760"/>
          </a:xfrm>
          <a:prstGeom prst="rect">
            <a:avLst/>
          </a:prstGeom>
          <a:noFill/>
        </p:spPr>
        <p:txBody>
          <a:bodyPr wrap="square" lIns="0" rIns="0" tIns="0" bIns="0" anchor="t"/>
          <a:lstStyle/>
          <a:p>
            <a:pPr algn="l">
              <a:spcBef>
                <a:spcPts val="0"/>
              </a:spcBef>
              <a:spcAft>
                <a:spcPts val="0"/>
              </a:spcAft>
            </a:pPr>
            <a:r>
              <a:rPr sz="1600" b="1" i="0">
                <a:solidFill>
                  <a:srgbClr val="0E6B5C"/>
                </a:solidFill>
                <a:latin typeface="Calibri"/>
              </a:rPr>
              <a:t>Alat: panduan dan search_flights. Bukan setelah S1.</a:t>
            </a:r>
          </a:p>
        </p:txBody>
      </p:sp>
      <p:sp>
        <p:nvSpPr>
          <p:cNvPr id="7" name="TextBox 6"/>
          <p:cNvSpPr txBox="1"/>
          <p:nvPr/>
        </p:nvSpPr>
        <p:spPr>
          <a:xfrm>
            <a:off x="502920" y="2194560"/>
            <a:ext cx="11155680" cy="4480560"/>
          </a:xfrm>
          <a:prstGeom prst="rect">
            <a:avLst/>
          </a:prstGeom>
          <a:noFill/>
        </p:spPr>
        <p:txBody>
          <a:bodyPr wrap="square">
            <a:spAutoFit/>
          </a:bodyPr>
          <a:lstStyle/>
          <a:p>
            <a:pPr>
              <a:spcBef>
                <a:spcPts val="0"/>
              </a:spcBef>
              <a:spcAft>
                <a:spcPts val="1000"/>
              </a:spcAft>
            </a:pPr>
            <a:r>
              <a:rPr sz="2000" b="0" i="0">
                <a:solidFill>
                  <a:srgbClr val="1C2430"/>
                </a:solidFill>
                <a:latin typeface="Calibri"/>
              </a:rPr>
              <a:t>Hari Bali: pantai selatan, Ubud, Sanur.</a:t>
            </a:r>
          </a:p>
          <a:p>
            <a:pPr>
              <a:spcBef>
                <a:spcPts val="0"/>
              </a:spcBef>
              <a:spcAft>
                <a:spcPts val="1000"/>
              </a:spcAft>
            </a:pPr>
            <a:r>
              <a:rPr sz="2000" b="0" i="0">
                <a:solidFill>
                  <a:srgbClr val="1C2430"/>
                </a:solidFill>
                <a:latin typeface="Calibri"/>
              </a:rPr>
              <a:t>Baris visa yang sudah ada di panduan.</a:t>
            </a:r>
          </a:p>
          <a:p>
            <a:pPr>
              <a:spcBef>
                <a:spcPts val="0"/>
              </a:spcBef>
              <a:spcAft>
                <a:spcPts val="1000"/>
              </a:spcAft>
            </a:pPr>
            <a:r>
              <a:rPr sz="2000" b="0" i="0">
                <a:solidFill>
                  <a:srgbClr val="1C2430"/>
                </a:solidFill>
                <a:latin typeface="Calibri"/>
              </a:rPr>
              <a:t>QZ-751 AirAsia, jam saja</a:t>
            </a:r>
          </a:p>
          <a:p>
            <a:pPr>
              <a:spcBef>
                <a:spcPts val="0"/>
              </a:spcBef>
              <a:spcAft>
                <a:spcPts val="1000"/>
              </a:spcAft>
            </a:pPr>
            <a:r>
              <a:rPr sz="2000" b="0" i="0">
                <a:solidFill>
                  <a:srgbClr val="1C2430"/>
                </a:solidFill>
                <a:latin typeface="Calibri"/>
              </a:rPr>
              <a:t>GA-404 Garuda, jam saja</a:t>
            </a:r>
          </a:p>
          <a:p>
            <a:pPr>
              <a:spcBef>
                <a:spcPts val="0"/>
              </a:spcBef>
              <a:spcAft>
                <a:spcPts val="1000"/>
              </a:spcAft>
            </a:pPr>
            <a:r>
              <a:rPr sz="2000" b="0" i="0">
                <a:solidFill>
                  <a:srgbClr val="1C2430"/>
                </a:solidFill>
                <a:latin typeface="Calibri"/>
              </a:rPr>
              <a:t>JT-39 Lion Air, jam saja</a:t>
            </a:r>
          </a:p>
          <a:p>
            <a:pPr>
              <a:spcBef>
                <a:spcPts val="0"/>
              </a:spcBef>
              <a:spcAft>
                <a:spcPts val="1000"/>
              </a:spcAft>
            </a:pPr>
            <a:r>
              <a:rPr sz="2000" b="0" i="0">
                <a:solidFill>
                  <a:srgbClr val="1C2430"/>
                </a:solidFill>
                <a:latin typeface="Calibri"/>
              </a:rPr>
              <a:t>Jangan tanya dari mana mereka berangkat.</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36–46 MENIT</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Chat hanya membawa dua berkas ke model.</a:t>
            </a:r>
          </a:p>
        </p:txBody>
      </p:sp>
      <p:sp>
        <p:nvSpPr>
          <p:cNvPr id="6" name="TextBox 5"/>
          <p:cNvSpPr txBox="1"/>
          <p:nvPr/>
        </p:nvSpPr>
        <p:spPr>
          <a:xfrm>
            <a:off x="502920" y="1737360"/>
            <a:ext cx="11155680" cy="4480560"/>
          </a:xfrm>
          <a:prstGeom prst="rect">
            <a:avLst/>
          </a:prstGeom>
          <a:noFill/>
        </p:spPr>
        <p:txBody>
          <a:bodyPr wrap="square">
            <a:spAutoFit/>
          </a:bodyPr>
          <a:lstStyle/>
          <a:p>
            <a:pPr>
              <a:spcBef>
                <a:spcPts val="0"/>
              </a:spcBef>
              <a:spcAft>
                <a:spcPts val="1000"/>
              </a:spcAft>
            </a:pPr>
            <a:r>
              <a:rPr sz="2200" b="0" i="0">
                <a:solidFill>
                  <a:srgbClr val="1C2430"/>
                </a:solidFill>
                <a:latin typeface="Calibri"/>
              </a:rPr>
              <a:t>npm run demo membuka chat. Ia tidak mengulang enam ujian.</a:t>
            </a:r>
          </a:p>
          <a:p>
            <a:pPr>
              <a:spcBef>
                <a:spcPts val="0"/>
              </a:spcBef>
              <a:spcAft>
                <a:spcPts val="1000"/>
              </a:spcAft>
            </a:pPr>
            <a:r>
              <a:rPr sz="2200" b="0" i="0">
                <a:solidFill>
                  <a:srgbClr val="1C2430"/>
                </a:solidFill>
                <a:latin typeface="Calibri"/>
              </a:rPr>
              <a:t>Yang dibawa: aturan saat ini, dan laporan train terakhir.</a:t>
            </a:r>
          </a:p>
          <a:p>
            <a:pPr>
              <a:spcBef>
                <a:spcPts val="0"/>
              </a:spcBef>
              <a:spcAft>
                <a:spcPts val="1000"/>
              </a:spcAft>
            </a:pPr>
            <a:r>
              <a:rPr sz="2200" b="0" i="0">
                <a:solidFill>
                  <a:srgbClr val="1C2430"/>
                </a:solidFill>
                <a:latin typeface="Calibri"/>
              </a:rPr>
              <a:t>Tiru jawaban yang lulus untuk giliran ini.</a:t>
            </a:r>
          </a:p>
          <a:p>
            <a:pPr>
              <a:spcBef>
                <a:spcPts val="0"/>
              </a:spcBef>
              <a:spcAft>
                <a:spcPts val="1000"/>
              </a:spcAft>
            </a:pPr>
            <a:r>
              <a:rPr sz="2200" b="0" i="0">
                <a:solidFill>
                  <a:srgbClr val="1C2430"/>
                </a:solidFill>
                <a:latin typeface="Calibri"/>
              </a:rPr>
              <a:t>Jangan tempel lagi jawaban giliran sebelumnya.</a:t>
            </a:r>
          </a:p>
          <a:p>
            <a:pPr>
              <a:spcBef>
                <a:spcPts val="0"/>
              </a:spcBef>
              <a:spcAft>
                <a:spcPts val="1000"/>
              </a:spcAft>
            </a:pPr>
            <a:r>
              <a:rPr sz="2200" b="0" i="0">
                <a:solidFill>
                  <a:srgbClr val="1C2430"/>
                </a:solidFill>
                <a:latin typeface="Calibri"/>
              </a:rPr>
              <a:t>Kalau laporannya belum ada, chat menolak dan menyuruh train dulu.</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DI HALAMAN CHAT YANG BARU</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Ketik berurutan. Jangan mulai dari tengah.</a:t>
            </a:r>
          </a:p>
        </p:txBody>
      </p:sp>
      <p:sp>
        <p:nvSpPr>
          <p:cNvPr id="6" name="TextBox 5"/>
          <p:cNvSpPr txBox="1"/>
          <p:nvPr/>
        </p:nvSpPr>
        <p:spPr>
          <a:xfrm>
            <a:off x="502920" y="1691640"/>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S1</a:t>
            </a:r>
          </a:p>
        </p:txBody>
      </p:sp>
      <p:sp>
        <p:nvSpPr>
          <p:cNvPr id="7" name="TextBox 6"/>
          <p:cNvSpPr txBox="1"/>
          <p:nvPr/>
        </p:nvSpPr>
        <p:spPr>
          <a:xfrm>
            <a:off x="1554480" y="1691640"/>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Mau ke Jepang</a:t>
            </a:r>
          </a:p>
        </p:txBody>
      </p:sp>
      <p:sp>
        <p:nvSpPr>
          <p:cNvPr id="8" name="TextBox 7"/>
          <p:cNvSpPr txBox="1"/>
          <p:nvPr/>
        </p:nvSpPr>
        <p:spPr>
          <a:xfrm>
            <a:off x="7315200" y="1691640"/>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Panduan, satu pertanyaan</a:t>
            </a:r>
          </a:p>
        </p:txBody>
      </p:sp>
      <p:sp>
        <p:nvSpPr>
          <p:cNvPr id="9" name="TextBox 8"/>
          <p:cNvSpPr txBox="1"/>
          <p:nvPr/>
        </p:nvSpPr>
        <p:spPr>
          <a:xfrm>
            <a:off x="502920" y="2404872"/>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S6</a:t>
            </a:r>
          </a:p>
        </p:txBody>
      </p:sp>
      <p:sp>
        <p:nvSpPr>
          <p:cNvPr id="10" name="TextBox 9"/>
          <p:cNvSpPr txBox="1"/>
          <p:nvPr/>
        </p:nvSpPr>
        <p:spPr>
          <a:xfrm>
            <a:off x="1554480" y="2404872"/>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Jakarta, besok, 2 orang</a:t>
            </a:r>
          </a:p>
        </p:txBody>
      </p:sp>
      <p:sp>
        <p:nvSpPr>
          <p:cNvPr id="11" name="TextBox 10"/>
          <p:cNvSpPr txBox="1"/>
          <p:nvPr/>
        </p:nvSpPr>
        <p:spPr>
          <a:xfrm>
            <a:off x="7315200" y="2404872"/>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Tiga penerbangan, tanpa ulang panduan</a:t>
            </a:r>
          </a:p>
        </p:txBody>
      </p:sp>
      <p:sp>
        <p:nvSpPr>
          <p:cNvPr id="12" name="TextBox 11"/>
          <p:cNvSpPr txBox="1"/>
          <p:nvPr/>
        </p:nvSpPr>
        <p:spPr>
          <a:xfrm>
            <a:off x="502920" y="3118104"/>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S3</a:t>
            </a:r>
          </a:p>
        </p:txBody>
      </p:sp>
      <p:sp>
        <p:nvSpPr>
          <p:cNvPr id="13" name="TextBox 12"/>
          <p:cNvSpPr txBox="1"/>
          <p:nvPr/>
        </p:nvSpPr>
        <p:spPr>
          <a:xfrm>
            <a:off x="1554480" y="3118104"/>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Yang nomor 2, hotel</a:t>
            </a:r>
          </a:p>
        </p:txBody>
      </p:sp>
      <p:sp>
        <p:nvSpPr>
          <p:cNvPr id="14" name="TextBox 13"/>
          <p:cNvSpPr txBox="1"/>
          <p:nvPr/>
        </p:nvSpPr>
        <p:spPr>
          <a:xfrm>
            <a:off x="7315200" y="3118104"/>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Nama dan daerah</a:t>
            </a:r>
          </a:p>
        </p:txBody>
      </p:sp>
      <p:sp>
        <p:nvSpPr>
          <p:cNvPr id="15" name="TextBox 14"/>
          <p:cNvSpPr txBox="1"/>
          <p:nvPr/>
        </p:nvSpPr>
        <p:spPr>
          <a:xfrm>
            <a:off x="502920" y="3831336"/>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S4</a:t>
            </a:r>
          </a:p>
        </p:txBody>
      </p:sp>
      <p:sp>
        <p:nvSpPr>
          <p:cNvPr id="16" name="TextBox 15"/>
          <p:cNvSpPr txBox="1"/>
          <p:nvPr/>
        </p:nvSpPr>
        <p:spPr>
          <a:xfrm>
            <a:off x="1554480" y="3831336"/>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Garuda jam 3 pagi</a:t>
            </a:r>
          </a:p>
        </p:txBody>
      </p:sp>
      <p:sp>
        <p:nvSpPr>
          <p:cNvPr id="17" name="TextBox 16"/>
          <p:cNvSpPr txBox="1"/>
          <p:nvPr/>
        </p:nvSpPr>
        <p:spPr>
          <a:xfrm>
            <a:off x="7315200" y="3831336"/>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Tolak. Jangan sebut harga.</a:t>
            </a:r>
          </a:p>
        </p:txBody>
      </p:sp>
      <p:sp>
        <p:nvSpPr>
          <p:cNvPr id="18" name="TextBox 17"/>
          <p:cNvSpPr txBox="1"/>
          <p:nvPr/>
        </p:nvSpPr>
        <p:spPr>
          <a:xfrm>
            <a:off x="502920" y="4544568"/>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S5</a:t>
            </a:r>
          </a:p>
        </p:txBody>
      </p:sp>
      <p:sp>
        <p:nvSpPr>
          <p:cNvPr id="19" name="TextBox 18"/>
          <p:cNvSpPr txBox="1"/>
          <p:nvPr/>
        </p:nvSpPr>
        <p:spPr>
          <a:xfrm>
            <a:off x="1554480" y="4544568"/>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Kunci opsi 2</a:t>
            </a:r>
          </a:p>
        </p:txBody>
      </p:sp>
      <p:sp>
        <p:nvSpPr>
          <p:cNvPr id="20" name="TextBox 19"/>
          <p:cNvSpPr txBox="1"/>
          <p:nvPr/>
        </p:nvSpPr>
        <p:spPr>
          <a:xfrm>
            <a:off x="7315200" y="4544568"/>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Tiga pengingat di aplikasi</a:t>
            </a:r>
          </a:p>
        </p:txBody>
      </p:sp>
      <p:sp>
        <p:nvSpPr>
          <p:cNvPr id="21" name="TextBox 20"/>
          <p:cNvSpPr txBox="1"/>
          <p:nvPr/>
        </p:nvSpPr>
        <p:spPr>
          <a:xfrm>
            <a:off x="502920" y="5257800"/>
            <a:ext cx="1005840" cy="640080"/>
          </a:xfrm>
          <a:prstGeom prst="rect">
            <a:avLst/>
          </a:prstGeom>
          <a:noFill/>
        </p:spPr>
        <p:txBody>
          <a:bodyPr wrap="square" lIns="0" rIns="0" tIns="0" bIns="0" anchor="t"/>
          <a:lstStyle/>
          <a:p>
            <a:pPr algn="l">
              <a:spcBef>
                <a:spcPts val="0"/>
              </a:spcBef>
              <a:spcAft>
                <a:spcPts val="0"/>
              </a:spcAft>
            </a:pPr>
            <a:r>
              <a:rPr sz="1800" b="1" i="0">
                <a:solidFill>
                  <a:srgbClr val="0E6B5C"/>
                </a:solidFill>
                <a:latin typeface="Calibri"/>
              </a:rPr>
              <a:t>S2</a:t>
            </a:r>
          </a:p>
        </p:txBody>
      </p:sp>
      <p:sp>
        <p:nvSpPr>
          <p:cNvPr id="22" name="TextBox 21"/>
          <p:cNvSpPr txBox="1"/>
          <p:nvPr/>
        </p:nvSpPr>
        <p:spPr>
          <a:xfrm>
            <a:off x="1554480" y="5257800"/>
            <a:ext cx="5669280" cy="640080"/>
          </a:xfrm>
          <a:prstGeom prst="rect">
            <a:avLst/>
          </a:prstGeom>
          <a:noFill/>
        </p:spPr>
        <p:txBody>
          <a:bodyPr wrap="square" lIns="0" rIns="0" tIns="0" bIns="0" anchor="t"/>
          <a:lstStyle/>
          <a:p>
            <a:pPr algn="l">
              <a:spcBef>
                <a:spcPts val="0"/>
              </a:spcBef>
              <a:spcAft>
                <a:spcPts val="0"/>
              </a:spcAft>
            </a:pPr>
            <a:r>
              <a:rPr sz="1800" b="0" i="0">
                <a:solidFill>
                  <a:srgbClr val="1C2430"/>
                </a:solidFill>
                <a:latin typeface="Calibri"/>
              </a:rPr>
              <a:t>Jakarta ke Bali…</a:t>
            </a:r>
          </a:p>
        </p:txBody>
      </p:sp>
      <p:sp>
        <p:nvSpPr>
          <p:cNvPr id="23" name="TextBox 22"/>
          <p:cNvSpPr txBox="1"/>
          <p:nvPr/>
        </p:nvSpPr>
        <p:spPr>
          <a:xfrm>
            <a:off x="7315200" y="5257800"/>
            <a:ext cx="4297680" cy="640080"/>
          </a:xfrm>
          <a:prstGeom prst="rect">
            <a:avLst/>
          </a:prstGeom>
          <a:noFill/>
        </p:spPr>
        <p:txBody>
          <a:bodyPr wrap="square" lIns="0" rIns="0" tIns="0" bIns="0" anchor="t"/>
          <a:lstStyle/>
          <a:p>
            <a:pPr algn="l">
              <a:spcBef>
                <a:spcPts val="0"/>
              </a:spcBef>
              <a:spcAft>
                <a:spcPts val="0"/>
              </a:spcAft>
            </a:pPr>
            <a:r>
              <a:rPr sz="1800" b="0" i="0">
                <a:solidFill>
                  <a:srgbClr val="5C6670"/>
                </a:solidFill>
                <a:latin typeface="Calibri"/>
              </a:rPr>
              <a:t>Halaman baru. Tiga penerbangan Bali</a:t>
            </a:r>
          </a:p>
        </p:txBody>
      </p:sp>
      <p:sp>
        <p:nvSpPr>
          <p:cNvPr id="24" name="TextBox 23"/>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25" name="TextBox 24"/>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46–50 MENIT</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Ubah rencananya. Modelnya jangan disentuh.</a:t>
            </a:r>
          </a:p>
        </p:txBody>
      </p:sp>
      <p:sp>
        <p:nvSpPr>
          <p:cNvPr id="6" name="TextBox 5"/>
          <p:cNvSpPr txBox="1"/>
          <p:nvPr/>
        </p:nvSpPr>
        <p:spPr>
          <a:xfrm>
            <a:off x="502920" y="1828800"/>
            <a:ext cx="11155680" cy="4480560"/>
          </a:xfrm>
          <a:prstGeom prst="rect">
            <a:avLst/>
          </a:prstGeom>
          <a:noFill/>
        </p:spPr>
        <p:txBody>
          <a:bodyPr wrap="square">
            <a:spAutoFit/>
          </a:bodyPr>
          <a:lstStyle/>
          <a:p>
            <a:pPr>
              <a:spcBef>
                <a:spcPts val="0"/>
              </a:spcBef>
              <a:spcAft>
                <a:spcPts val="1000"/>
              </a:spcAft>
            </a:pPr>
            <a:r>
              <a:rPr sz="2200" b="0" i="0">
                <a:solidFill>
                  <a:srgbClr val="1C2430"/>
                </a:solidFill>
                <a:latin typeface="Calibri"/>
              </a:rPr>
              <a:t>Ganti satu judul hari di Bali, atau satu kalimat pengingat.</a:t>
            </a:r>
          </a:p>
          <a:p>
            <a:pPr>
              <a:spcBef>
                <a:spcPts val="0"/>
              </a:spcBef>
              <a:spcAft>
                <a:spcPts val="1000"/>
              </a:spcAft>
            </a:pPr>
            <a:r>
              <a:rPr sz="2200" b="0" i="0">
                <a:solidFill>
                  <a:srgbClr val="1C2430"/>
                </a:solidFill>
                <a:latin typeface="Calibri"/>
              </a:rPr>
              <a:t>Kalau itu juga tertulis di aturan, ubah cerita vibe-nya dan naikkan versinya.</a:t>
            </a:r>
          </a:p>
          <a:p>
            <a:pPr>
              <a:spcBef>
                <a:spcPts val="0"/>
              </a:spcBef>
              <a:spcAft>
                <a:spcPts val="1000"/>
              </a:spcAft>
            </a:pPr>
            <a:r>
              <a:rPr sz="2200" b="0" i="0">
                <a:solidFill>
                  <a:srgbClr val="1C2430"/>
                </a:solidFill>
                <a:latin typeface="Calibri"/>
              </a:rPr>
              <a:t>Nilai lagi dengan npm run train.</a:t>
            </a:r>
          </a:p>
          <a:p>
            <a:pPr>
              <a:spcBef>
                <a:spcPts val="0"/>
              </a:spcBef>
              <a:spcAft>
                <a:spcPts val="1000"/>
              </a:spcAft>
            </a:pPr>
            <a:r>
              <a:rPr sz="2200" b="0" i="0">
                <a:solidFill>
                  <a:srgbClr val="1C2430"/>
                </a:solidFill>
                <a:latin typeface="Calibri"/>
              </a:rPr>
              <a:t>Muat ulang chat. Nama filenya sama. Isinya yang baru.</a:t>
            </a:r>
          </a:p>
          <a:p>
            <a:pPr>
              <a:spcBef>
                <a:spcPts val="0"/>
              </a:spcBef>
              <a:spcAft>
                <a:spcPts val="1000"/>
              </a:spcAft>
            </a:pPr>
            <a:r>
              <a:rPr sz="2200" b="0" i="0">
                <a:solidFill>
                  <a:srgbClr val="1C2430"/>
                </a:solidFill>
                <a:latin typeface="Calibri"/>
              </a:rPr>
              <a:t>Model di disk tidak berubah.</a:t>
            </a:r>
          </a:p>
        </p:txBody>
      </p:sp>
      <p:sp>
        <p:nvSpPr>
          <p:cNvPr id="7" name="TextBox 6"/>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8" name="TextBox 7"/>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E4C07A"/>
                </a:solidFill>
                <a:latin typeface="Calibri"/>
              </a:rPr>
              <a:t>YANG TIDAK KITA JANJIKAN</a:t>
            </a:r>
          </a:p>
        </p:txBody>
      </p:sp>
      <p:sp>
        <p:nvSpPr>
          <p:cNvPr id="4" name="TextBox 3"/>
          <p:cNvSpPr txBox="1"/>
          <p:nvPr/>
        </p:nvSpPr>
        <p:spPr>
          <a:xfrm>
            <a:off x="502920" y="1051560"/>
            <a:ext cx="11155680" cy="4480560"/>
          </a:xfrm>
          <a:prstGeom prst="rect">
            <a:avLst/>
          </a:prstGeom>
          <a:noFill/>
        </p:spPr>
        <p:txBody>
          <a:bodyPr wrap="square">
            <a:spAutoFit/>
          </a:bodyPr>
          <a:lstStyle/>
          <a:p>
            <a:pPr>
              <a:spcBef>
                <a:spcPts val="0"/>
              </a:spcBef>
              <a:spcAft>
                <a:spcPts val="1000"/>
              </a:spcAft>
            </a:pPr>
            <a:r>
              <a:rPr sz="2200" b="0" i="0">
                <a:solidFill>
                  <a:srgbClr val="FFFFFF"/>
                </a:solidFill>
                <a:latin typeface="Calibri"/>
              </a:rPr>
              <a:t>Tidak menyebut harga, walaupun orangnya yang mengetik angkanya.</a:t>
            </a:r>
          </a:p>
          <a:p>
            <a:pPr>
              <a:spcBef>
                <a:spcPts val="0"/>
              </a:spcBef>
              <a:spcAft>
                <a:spcPts val="1000"/>
              </a:spcAft>
            </a:pPr>
            <a:r>
              <a:rPr sz="2200" b="0" i="0">
                <a:solidFill>
                  <a:srgbClr val="FFFFFF"/>
                </a:solidFill>
                <a:latin typeface="Calibri"/>
              </a:rPr>
              <a:t>Tidak memesan, tidak membayar, tidak mencetak tiket.</a:t>
            </a:r>
          </a:p>
          <a:p>
            <a:pPr>
              <a:spcBef>
                <a:spcPts val="0"/>
              </a:spcBef>
              <a:spcAft>
                <a:spcPts val="1000"/>
              </a:spcAft>
            </a:pPr>
            <a:r>
              <a:rPr sz="2200" b="0" i="0">
                <a:solidFill>
                  <a:srgbClr val="FFFFFF"/>
                </a:solidFill>
                <a:latin typeface="Calibri"/>
              </a:rPr>
              <a:t>Tidak menebak cuaca, tidak memutuskan visa.</a:t>
            </a:r>
          </a:p>
          <a:p>
            <a:pPr>
              <a:spcBef>
                <a:spcPts val="0"/>
              </a:spcBef>
              <a:spcAft>
                <a:spcPts val="1000"/>
              </a:spcAft>
            </a:pPr>
            <a:r>
              <a:rPr sz="2200" b="0" i="0">
                <a:solidFill>
                  <a:srgbClr val="FFFFFF"/>
                </a:solidFill>
                <a:latin typeface="Calibri"/>
              </a:rPr>
              <a:t>Tidak mengirim email atau WhatsApp. Pengingatnya di dalam aplikasi.</a:t>
            </a:r>
          </a:p>
          <a:p>
            <a:pPr>
              <a:spcBef>
                <a:spcPts val="0"/>
              </a:spcBef>
              <a:spcAft>
                <a:spcPts val="1000"/>
              </a:spcAft>
            </a:pPr>
            <a:r>
              <a:rPr sz="2200" b="0" i="0">
                <a:solidFill>
                  <a:srgbClr val="FFFFFF"/>
                </a:solidFill>
                <a:latin typeface="Calibri"/>
              </a:rPr>
              <a:t>Tidak memasang model baru.</a:t>
            </a:r>
          </a:p>
        </p:txBody>
      </p:sp>
      <p:sp>
        <p:nvSpPr>
          <p:cNvPr id="5" name="TextBox 4"/>
          <p:cNvSpPr txBox="1"/>
          <p:nvPr/>
        </p:nvSpPr>
        <p:spPr>
          <a:xfrm>
            <a:off x="502920" y="4709160"/>
            <a:ext cx="10972800" cy="411480"/>
          </a:xfrm>
          <a:prstGeom prst="rect">
            <a:avLst/>
          </a:prstGeom>
          <a:noFill/>
        </p:spPr>
        <p:txBody>
          <a:bodyPr wrap="square" lIns="0" rIns="0" tIns="0" bIns="0" anchor="t"/>
          <a:lstStyle/>
          <a:p>
            <a:pPr algn="l">
              <a:spcBef>
                <a:spcPts val="0"/>
              </a:spcBef>
              <a:spcAft>
                <a:spcPts val="0"/>
              </a:spcAft>
            </a:pPr>
            <a:r>
              <a:rPr sz="1600" b="0" i="0">
                <a:solidFill>
                  <a:srgbClr val="E4C07A"/>
                </a:solidFill>
                <a:latin typeface="Calibri"/>
              </a:rPr>
              <a:t>github.com/iman-suherman/sdd-travel-planner</a:t>
            </a:r>
          </a:p>
        </p:txBody>
      </p:sp>
      <p:sp>
        <p:nvSpPr>
          <p:cNvPr id="6" name="TextBox 5"/>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C9D4CE"/>
                </a:solidFill>
                <a:latin typeface="Calibri"/>
              </a:rPr>
              <a:t>TripSpec  ·  19 September 2026</a:t>
            </a:r>
          </a:p>
        </p:txBody>
      </p:sp>
      <p:sp>
        <p:nvSpPr>
          <p:cNvPr id="7" name="TextBox 6"/>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C9D4CE"/>
                </a:solidFill>
                <a:latin typeface="Calibri"/>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i="0">
                <a:solidFill>
                  <a:srgbClr val="0E6B5C"/>
                </a:solidFill>
                <a:latin typeface="Calibri"/>
              </a:rPr>
              <a:t>TINGGALKAN INI</a:t>
            </a:r>
          </a:p>
        </p:txBody>
      </p:sp>
      <p:sp>
        <p:nvSpPr>
          <p:cNvPr id="5" name="TextBox 4"/>
          <p:cNvSpPr txBox="1"/>
          <p:nvPr/>
        </p:nvSpPr>
        <p:spPr>
          <a:xfrm>
            <a:off x="502920" y="502920"/>
            <a:ext cx="11155680" cy="1051560"/>
          </a:xfrm>
          <a:prstGeom prst="rect">
            <a:avLst/>
          </a:prstGeom>
          <a:noFill/>
        </p:spPr>
        <p:txBody>
          <a:bodyPr wrap="square" lIns="0" rIns="0" tIns="0" bIns="0" anchor="t"/>
          <a:lstStyle/>
          <a:p>
            <a:pPr algn="l">
              <a:spcBef>
                <a:spcPts val="0"/>
              </a:spcBef>
              <a:spcAft>
                <a:spcPts val="0"/>
              </a:spcAft>
            </a:pPr>
            <a:r>
              <a:rPr sz="3200" b="1" i="0">
                <a:solidFill>
                  <a:srgbClr val="1C2430"/>
                </a:solidFill>
                <a:latin typeface="Calibri"/>
              </a:rPr>
              <a:t>Satu perintah saja. Yang di kotak bawah.</a:t>
            </a:r>
          </a:p>
        </p:txBody>
      </p:sp>
      <p:sp>
        <p:nvSpPr>
          <p:cNvPr id="6" name="Rectangle 5"/>
          <p:cNvSpPr/>
          <p:nvPr/>
        </p:nvSpPr>
        <p:spPr>
          <a:xfrm>
            <a:off x="502920" y="1737360"/>
            <a:ext cx="11155680" cy="3931920"/>
          </a:xfrm>
          <a:prstGeom prst="rect">
            <a:avLst/>
          </a:prstGeom>
          <a:solidFill>
            <a:srgbClr val="123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0789920" cy="3703320"/>
          </a:xfrm>
          <a:prstGeom prst="rect">
            <a:avLst/>
          </a:prstGeom>
          <a:noFill/>
        </p:spPr>
        <p:txBody>
          <a:bodyPr wrap="none">
            <a:spAutoFit/>
          </a:bodyPr>
          <a:lstStyle/>
          <a:p>
            <a:pPr>
              <a:spcAft>
                <a:spcPts val="200"/>
              </a:spcAft>
            </a:pPr>
            <a:r>
              <a:rPr sz="1600" b="0" i="0">
                <a:solidFill>
                  <a:srgbClr val="FFFFFF"/>
                </a:solidFill>
                <a:latin typeface="Menlo"/>
              </a:rPr>
              <a:t>npm run help         status, dan satu perintah berikutnya</a:t>
            </a:r>
          </a:p>
          <a:p>
            <a:pPr>
              <a:spcAft>
                <a:spcPts val="200"/>
              </a:spcAft>
            </a:pPr>
            <a:r>
              <a:rPr sz="1600" b="0" i="0">
                <a:solidFill>
                  <a:srgbClr val="FFFFFF"/>
                </a:solidFill>
                <a:latin typeface="Menlo"/>
              </a:rPr>
              <a:t>npm run pull         qwen3.5:latest</a:t>
            </a:r>
          </a:p>
          <a:p>
            <a:pPr>
              <a:spcAft>
                <a:spcPts val="200"/>
              </a:spcAft>
            </a:pPr>
            <a:r>
              <a:rPr sz="1600" b="0" i="0">
                <a:solidFill>
                  <a:srgbClr val="FFFFFF"/>
                </a:solidFill>
                <a:latin typeface="Menlo"/>
              </a:rPr>
              <a:t>npm run strap        Agent On Rails → vendor/aor</a:t>
            </a:r>
          </a:p>
          <a:p>
            <a:pPr>
              <a:spcAft>
                <a:spcPts val="200"/>
              </a:spcAft>
            </a:pPr>
            <a:r>
              <a:rPr sz="1600" b="0" i="0">
                <a:solidFill>
                  <a:srgbClr val="FFFFFF"/>
                </a:solidFill>
                <a:latin typeface="Menlo"/>
              </a:rPr>
              <a:t>npm run contracts    vibe.md → pack dan skema</a:t>
            </a:r>
          </a:p>
          <a:p>
            <a:pPr>
              <a:spcAft>
                <a:spcPts val="200"/>
              </a:spcAft>
            </a:pPr>
            <a:r>
              <a:rPr sz="1600" b="0" i="0">
                <a:solidFill>
                  <a:srgbClr val="FFFFFF"/>
                </a:solidFill>
                <a:latin typeface="Menlo"/>
              </a:rPr>
              <a:t>npm run specs        specs/requirements dan product</a:t>
            </a:r>
          </a:p>
          <a:p>
            <a:pPr>
              <a:spcAft>
                <a:spcPts val="200"/>
              </a:spcAft>
            </a:pPr>
            <a:r>
              <a:rPr sz="1600" b="0" i="0">
                <a:solidFill>
                  <a:srgbClr val="FFFFFF"/>
                </a:solidFill>
                <a:latin typeface="Menlo"/>
              </a:rPr>
              <a:t>npm run train        latest.md</a:t>
            </a:r>
          </a:p>
          <a:p>
            <a:pPr>
              <a:spcAft>
                <a:spcPts val="200"/>
              </a:spcAft>
            </a:pPr>
            <a:r>
              <a:rPr sz="1600" b="0" i="0">
                <a:solidFill>
                  <a:srgbClr val="FFFFFF"/>
                </a:solidFill>
                <a:latin typeface="Menlo"/>
              </a:rPr>
              <a:t>npm run demo         chat di :3000, dari laporan itu</a:t>
            </a:r>
          </a:p>
        </p:txBody>
      </p:sp>
      <p:sp>
        <p:nvSpPr>
          <p:cNvPr id="8" name="TextBox 7"/>
          <p:cNvSpPr txBox="1"/>
          <p:nvPr/>
        </p:nvSpPr>
        <p:spPr>
          <a:xfrm>
            <a:off x="502920" y="6473952"/>
            <a:ext cx="7315200" cy="256032"/>
          </a:xfrm>
          <a:prstGeom prst="rect">
            <a:avLst/>
          </a:prstGeom>
          <a:noFill/>
        </p:spPr>
        <p:txBody>
          <a:bodyPr wrap="square" lIns="0" rIns="0" tIns="0" bIns="0" anchor="t"/>
          <a:lstStyle/>
          <a:p>
            <a:pPr algn="l">
              <a:spcBef>
                <a:spcPts val="0"/>
              </a:spcBef>
              <a:spcAft>
                <a:spcPts val="0"/>
              </a:spcAft>
            </a:pPr>
            <a:r>
              <a:rPr sz="1100" b="0" i="0">
                <a:solidFill>
                  <a:srgbClr val="5C6670"/>
                </a:solidFill>
                <a:latin typeface="Calibri"/>
              </a:rPr>
              <a:t>TripSpec  ·  19 September 2026</a:t>
            </a:r>
          </a:p>
        </p:txBody>
      </p:sp>
      <p:sp>
        <p:nvSpPr>
          <p:cNvPr id="9" name="TextBox 8"/>
          <p:cNvSpPr txBox="1"/>
          <p:nvPr/>
        </p:nvSpPr>
        <p:spPr>
          <a:xfrm>
            <a:off x="10241280" y="6473952"/>
            <a:ext cx="1463040" cy="256032"/>
          </a:xfrm>
          <a:prstGeom prst="rect">
            <a:avLst/>
          </a:prstGeom>
          <a:noFill/>
        </p:spPr>
        <p:txBody>
          <a:bodyPr wrap="square" lIns="0" rIns="0" tIns="0" bIns="0" anchor="t"/>
          <a:lstStyle/>
          <a:p>
            <a:pPr algn="r">
              <a:spcBef>
                <a:spcPts val="0"/>
              </a:spcBef>
              <a:spcAft>
                <a:spcPts val="0"/>
              </a:spcAft>
            </a:pPr>
            <a:r>
              <a:rPr sz="1100" b="0" i="0">
                <a:solidFill>
                  <a:srgbClr val="5C6670"/>
                </a:solidFill>
                <a:latin typeface="Calibr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TripSpec — 19 September 2026</dc:title>
  <dc:subject>Demo mengajar SDD. Bobot tidak bergerak.</dc:subject>
  <dc:creator>Iman Suherman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